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5.xml"/><Relationship Id="rId10" Type="http://schemas.openxmlformats.org/officeDocument/2006/relationships/slide" Target="slides/slide4.xml"/><Relationship Id="rId12" Type="http://schemas.openxmlformats.org/officeDocument/2006/relationships/slide" Target="slides/slide6.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d4b49de441_1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d4b49de441_1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3d4b49de441_1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49b406bec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g3d49b406bec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g3d49b406bec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49b406bec_2_3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3d49b406bec_2_3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g3d49b406bec_2_3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49b406bec_2_7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3d49b406bec_2_7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d49b406bec_2_7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49b406bec_2_10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g3d49b406bec_2_10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g3d49b406bec_2_10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49b406bec_2_12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g3d49b406bec_2_12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3d49b406bec_2_12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56" name="Shape 56"/>
        <p:cNvGrpSpPr/>
        <p:nvPr/>
      </p:nvGrpSpPr>
      <p:grpSpPr>
        <a:xfrm>
          <a:off x="0" y="0"/>
          <a:ext cx="0" cy="0"/>
          <a:chOff x="0" y="0"/>
          <a:chExt cx="0" cy="0"/>
        </a:xfrm>
      </p:grpSpPr>
      <p:sp>
        <p:nvSpPr>
          <p:cNvPr id="57" name="Google Shape;57;p15"/>
          <p:cNvSpPr/>
          <p:nvPr/>
        </p:nvSpPr>
        <p:spPr>
          <a:xfrm>
            <a:off x="0" y="0"/>
            <a:ext cx="73152" cy="5143500"/>
          </a:xfrm>
          <a:prstGeom prst="rect">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p:nvPr/>
        </p:nvSpPr>
        <p:spPr>
          <a:xfrm>
            <a:off x="0" y="0"/>
            <a:ext cx="9144000" cy="960120"/>
          </a:xfrm>
          <a:prstGeom prst="rect">
            <a:avLst/>
          </a:prstGeom>
          <a:solidFill>
            <a:srgbClr val="091A2B"/>
          </a:solidFill>
          <a:ln cap="flat" cmpd="sng" w="12700">
            <a:solidFill>
              <a:srgbClr val="091A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5"/>
          <p:cNvSpPr/>
          <p:nvPr/>
        </p:nvSpPr>
        <p:spPr>
          <a:xfrm>
            <a:off x="228600" y="91440"/>
            <a:ext cx="8686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 sz="2200" u="none" cap="none" strike="noStrike">
                <a:solidFill>
                  <a:srgbClr val="FFFFFF"/>
                </a:solidFill>
                <a:latin typeface="Calibri"/>
                <a:ea typeface="Calibri"/>
                <a:cs typeface="Calibri"/>
                <a:sym typeface="Calibri"/>
              </a:rPr>
              <a:t>Pay by Card Program Analysis</a:t>
            </a:r>
            <a:r>
              <a:rPr b="1" lang="en" sz="2200">
                <a:solidFill>
                  <a:srgbClr val="FFFFFF"/>
                </a:solidFill>
                <a:latin typeface="Calibri"/>
                <a:ea typeface="Calibri"/>
                <a:cs typeface="Calibri"/>
                <a:sym typeface="Calibri"/>
              </a:rPr>
              <a:t>| </a:t>
            </a:r>
            <a:r>
              <a:rPr b="1" i="0" lang="en" sz="2200" u="none" cap="none" strike="noStrike">
                <a:solidFill>
                  <a:srgbClr val="FFFFFF"/>
                </a:solidFill>
                <a:latin typeface="Calibri"/>
                <a:ea typeface="Calibri"/>
                <a:cs typeface="Calibri"/>
                <a:sym typeface="Calibri"/>
              </a:rPr>
              <a:t>Economics, Trends, and Segmentation Opportunities</a:t>
            </a:r>
            <a:endParaRPr b="0" i="0" sz="2200" u="none" cap="none" strike="noStrike">
              <a:solidFill>
                <a:schemeClr val="dk1"/>
              </a:solidFill>
              <a:latin typeface="Calibri"/>
              <a:ea typeface="Calibri"/>
              <a:cs typeface="Calibri"/>
              <a:sym typeface="Calibri"/>
            </a:endParaRPr>
          </a:p>
        </p:txBody>
      </p:sp>
      <p:sp>
        <p:nvSpPr>
          <p:cNvPr id="60" name="Google Shape;60;p15"/>
          <p:cNvSpPr/>
          <p:nvPr/>
        </p:nvSpPr>
        <p:spPr>
          <a:xfrm>
            <a:off x="228600" y="1051560"/>
            <a:ext cx="41148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00"/>
              <a:buFont typeface="Calibri"/>
              <a:buNone/>
            </a:pPr>
            <a:r>
              <a:rPr b="1" i="0" lang="en" sz="1300" u="none" cap="none" strike="noStrike">
                <a:solidFill>
                  <a:schemeClr val="dk1"/>
                </a:solidFill>
                <a:latin typeface="Calibri"/>
                <a:ea typeface="Calibri"/>
                <a:cs typeface="Calibri"/>
                <a:sym typeface="Calibri"/>
              </a:rPr>
              <a:t>SCOPE &amp; APPROACH</a:t>
            </a:r>
            <a:endParaRPr b="0" i="0" sz="1300" u="none" cap="none" strike="noStrike">
              <a:solidFill>
                <a:schemeClr val="dk1"/>
              </a:solidFill>
              <a:latin typeface="Calibri"/>
              <a:ea typeface="Calibri"/>
              <a:cs typeface="Calibri"/>
              <a:sym typeface="Calibri"/>
            </a:endParaRPr>
          </a:p>
        </p:txBody>
      </p:sp>
      <p:cxnSp>
        <p:nvCxnSpPr>
          <p:cNvPr id="61" name="Google Shape;61;p15"/>
          <p:cNvCxnSpPr/>
          <p:nvPr/>
        </p:nvCxnSpPr>
        <p:spPr>
          <a:xfrm>
            <a:off x="228600" y="1252728"/>
            <a:ext cx="4114800" cy="0"/>
          </a:xfrm>
          <a:prstGeom prst="straightConnector1">
            <a:avLst/>
          </a:prstGeom>
          <a:noFill/>
          <a:ln cap="flat" cmpd="sng" w="9525">
            <a:solidFill>
              <a:srgbClr val="00BCD4"/>
            </a:solidFill>
            <a:prstDash val="solid"/>
            <a:round/>
            <a:headEnd len="sm" w="sm" type="none"/>
            <a:tailEnd len="sm" w="sm" type="none"/>
          </a:ln>
        </p:spPr>
      </p:cxnSp>
      <p:sp>
        <p:nvSpPr>
          <p:cNvPr id="62" name="Google Shape;62;p15"/>
          <p:cNvSpPr/>
          <p:nvPr/>
        </p:nvSpPr>
        <p:spPr>
          <a:xfrm>
            <a:off x="228600" y="1325880"/>
            <a:ext cx="4114800" cy="960120"/>
          </a:xfrm>
          <a:prstGeom prst="rect">
            <a:avLst/>
          </a:prstGeom>
          <a:solidFill>
            <a:schemeClr val="dk1"/>
          </a:solidFill>
          <a:ln cap="flat" cmpd="sng" w="9525">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5"/>
          <p:cNvSpPr/>
          <p:nvPr/>
        </p:nvSpPr>
        <p:spPr>
          <a:xfrm>
            <a:off x="320050" y="1389901"/>
            <a:ext cx="4041300" cy="868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0BEC5"/>
              </a:buClr>
              <a:buSzPts val="850"/>
              <a:buFont typeface="Calibri"/>
              <a:buNone/>
            </a:pPr>
            <a:r>
              <a:rPr b="0" i="0" lang="en" sz="1050" u="none" cap="none" strike="noStrike">
                <a:solidFill>
                  <a:schemeClr val="lt1"/>
                </a:solidFill>
                <a:latin typeface="Calibri"/>
                <a:ea typeface="Calibri"/>
                <a:cs typeface="Calibri"/>
                <a:sym typeface="Calibri"/>
              </a:rPr>
              <a:t>This analysis examines 2,000 completed Pay by Card transactions spanning December 13 2025 to March 12 2026. The goal is to explain program economics, identify volume trends, and surface customer segmentation opportunities that can inform decisions across Customer Success, Sales, and Product teams.</a:t>
            </a:r>
            <a:endParaRPr b="0" i="0" sz="1050" u="none" cap="none" strike="noStrike">
              <a:solidFill>
                <a:schemeClr val="lt1"/>
              </a:solidFill>
              <a:latin typeface="Calibri"/>
              <a:ea typeface="Calibri"/>
              <a:cs typeface="Calibri"/>
              <a:sym typeface="Calibri"/>
            </a:endParaRPr>
          </a:p>
        </p:txBody>
      </p:sp>
      <p:sp>
        <p:nvSpPr>
          <p:cNvPr id="64" name="Google Shape;64;p15"/>
          <p:cNvSpPr/>
          <p:nvPr/>
        </p:nvSpPr>
        <p:spPr>
          <a:xfrm>
            <a:off x="288025" y="2458698"/>
            <a:ext cx="4114800" cy="2523900"/>
          </a:xfrm>
          <a:prstGeom prst="rect">
            <a:avLst/>
          </a:prstGeom>
          <a:solidFill>
            <a:srgbClr val="000000"/>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a:off x="324788" y="2488850"/>
            <a:ext cx="4041300" cy="2463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0CBC4"/>
              </a:buClr>
              <a:buSzPts val="800"/>
              <a:buFont typeface="Calibri"/>
              <a:buNone/>
            </a:pPr>
            <a:r>
              <a:rPr i="1" lang="en" sz="1200">
                <a:solidFill>
                  <a:schemeClr val="lt1"/>
                </a:solidFill>
                <a:latin typeface="Calibri"/>
                <a:ea typeface="Calibri"/>
                <a:cs typeface="Calibri"/>
                <a:sym typeface="Calibri"/>
              </a:rPr>
              <a:t>15 DAX measures and 9 derived columns created in Power BI from the provided dataset. Google Sheets was used for sanity checks  verifying that column totals matched Power BI KPI values, and confirming that gross interchange reconciled against net interchange, cashback, and processing cost across sampled rows.</a:t>
            </a:r>
            <a:endParaRPr i="1" sz="1200">
              <a:solidFill>
                <a:schemeClr val="lt1"/>
              </a:solidFill>
              <a:latin typeface="Calibri"/>
              <a:ea typeface="Calibri"/>
              <a:cs typeface="Calibri"/>
              <a:sym typeface="Calibri"/>
            </a:endParaRPr>
          </a:p>
          <a:p>
            <a:pPr indent="0" lvl="0" marL="0" marR="0" rtl="0" algn="l">
              <a:spcBef>
                <a:spcPts val="0"/>
              </a:spcBef>
              <a:spcAft>
                <a:spcPts val="0"/>
              </a:spcAft>
              <a:buClr>
                <a:srgbClr val="80CBC4"/>
              </a:buClr>
              <a:buSzPts val="800"/>
              <a:buFont typeface="Calibri"/>
              <a:buNone/>
            </a:pPr>
            <a:r>
              <a:rPr i="1" lang="en" sz="1200">
                <a:solidFill>
                  <a:schemeClr val="lt1"/>
                </a:solidFill>
                <a:latin typeface="Calibri"/>
                <a:ea typeface="Calibri"/>
                <a:cs typeface="Calibri"/>
                <a:sym typeface="Calibri"/>
              </a:rPr>
              <a:t> Key measures: Total Card Spend, Implied Interchange Rate (gross interchange ÷ payment amount), MoM Spend Growth, Avg Processing Days (transaction date − payment created date), and Cashback Yield %. Key derived columns: Processing Cost, Cashback Rate and Tier (revealed three pricing bands: 0.25%, 0.50%, 0.75%+), Size Category, and Month-Year label. Working file submitted as Power BI .pbix.</a:t>
            </a:r>
            <a:endParaRPr b="0" i="0" sz="1200" u="none" cap="none" strike="noStrike">
              <a:solidFill>
                <a:schemeClr val="lt1"/>
              </a:solidFill>
              <a:latin typeface="Calibri"/>
              <a:ea typeface="Calibri"/>
              <a:cs typeface="Calibri"/>
              <a:sym typeface="Calibri"/>
            </a:endParaRPr>
          </a:p>
        </p:txBody>
      </p:sp>
      <p:sp>
        <p:nvSpPr>
          <p:cNvPr id="66" name="Google Shape;66;p15"/>
          <p:cNvSpPr/>
          <p:nvPr/>
        </p:nvSpPr>
        <p:spPr>
          <a:xfrm>
            <a:off x="4617720" y="1051560"/>
            <a:ext cx="42976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800"/>
              <a:buFont typeface="Calibri"/>
              <a:buNone/>
            </a:pPr>
            <a:r>
              <a:rPr b="1" lang="en" sz="1300">
                <a:solidFill>
                  <a:schemeClr val="dk1"/>
                </a:solidFill>
                <a:latin typeface="Calibri"/>
                <a:ea typeface="Calibri"/>
                <a:cs typeface="Calibri"/>
                <a:sym typeface="Calibri"/>
              </a:rPr>
              <a:t>ASSUMPTIONS</a:t>
            </a:r>
            <a:r>
              <a:rPr b="1" i="0" lang="en" sz="1300" u="none" cap="none" strike="noStrike">
                <a:solidFill>
                  <a:schemeClr val="dk1"/>
                </a:solidFill>
                <a:latin typeface="Calibri"/>
                <a:ea typeface="Calibri"/>
                <a:cs typeface="Calibri"/>
                <a:sym typeface="Calibri"/>
              </a:rPr>
              <a:t> &amp; LIMITATIONS</a:t>
            </a:r>
            <a:endParaRPr b="0" i="0" sz="1300" u="none" cap="none" strike="noStrike">
              <a:solidFill>
                <a:schemeClr val="dk1"/>
              </a:solidFill>
              <a:latin typeface="Calibri"/>
              <a:ea typeface="Calibri"/>
              <a:cs typeface="Calibri"/>
              <a:sym typeface="Calibri"/>
            </a:endParaRPr>
          </a:p>
        </p:txBody>
      </p:sp>
      <p:cxnSp>
        <p:nvCxnSpPr>
          <p:cNvPr id="67" name="Google Shape;67;p15"/>
          <p:cNvCxnSpPr/>
          <p:nvPr/>
        </p:nvCxnSpPr>
        <p:spPr>
          <a:xfrm>
            <a:off x="4617720" y="1268103"/>
            <a:ext cx="4297800" cy="0"/>
          </a:xfrm>
          <a:prstGeom prst="straightConnector1">
            <a:avLst/>
          </a:prstGeom>
          <a:noFill/>
          <a:ln cap="flat" cmpd="sng" w="9525">
            <a:solidFill>
              <a:srgbClr val="00BCD4"/>
            </a:solidFill>
            <a:prstDash val="solid"/>
            <a:round/>
            <a:headEnd len="sm" w="sm" type="none"/>
            <a:tailEnd len="sm" w="sm" type="none"/>
          </a:ln>
        </p:spPr>
      </p:cxnSp>
      <p:sp>
        <p:nvSpPr>
          <p:cNvPr id="68" name="Google Shape;68;p15"/>
          <p:cNvSpPr/>
          <p:nvPr/>
        </p:nvSpPr>
        <p:spPr>
          <a:xfrm>
            <a:off x="4617720" y="1371600"/>
            <a:ext cx="256032" cy="256032"/>
          </a:xfrm>
          <a:prstGeom prst="ellipse">
            <a:avLst/>
          </a:prstGeom>
          <a:solidFill>
            <a:srgbClr val="0D3349"/>
          </a:solidFill>
          <a:ln cap="flat" cmpd="sng" w="9525">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5"/>
          <p:cNvSpPr/>
          <p:nvPr/>
        </p:nvSpPr>
        <p:spPr>
          <a:xfrm>
            <a:off x="4617800" y="1371513"/>
            <a:ext cx="255900" cy="256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CD4"/>
              </a:buClr>
              <a:buSzPts val="900"/>
              <a:buFont typeface="Calibri"/>
              <a:buNone/>
            </a:pPr>
            <a:r>
              <a:rPr b="1" i="0" lang="en" sz="900" u="none" cap="none" strike="noStrike">
                <a:solidFill>
                  <a:srgbClr val="00BCD4"/>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70" name="Google Shape;70;p15"/>
          <p:cNvSpPr/>
          <p:nvPr/>
        </p:nvSpPr>
        <p:spPr>
          <a:xfrm>
            <a:off x="4937750" y="1353296"/>
            <a:ext cx="3977700" cy="3228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0BEC5"/>
              </a:buClr>
              <a:buSzPts val="850"/>
              <a:buFont typeface="Calibri"/>
              <a:buNone/>
            </a:pPr>
            <a:r>
              <a:rPr b="0" i="0" lang="en" sz="1250" u="none" cap="none" strike="noStrike">
                <a:solidFill>
                  <a:schemeClr val="lt1"/>
                </a:solidFill>
                <a:latin typeface="Calibri"/>
                <a:ea typeface="Calibri"/>
                <a:cs typeface="Calibri"/>
                <a:sym typeface="Calibri"/>
              </a:rPr>
              <a:t>Dataset contains completed transactions only failed and reverted payments were not included, so full funnel metrics such as card penetration rate cannot be calculated</a:t>
            </a:r>
            <a:endParaRPr b="0" i="0" sz="1250" u="none" cap="none" strike="noStrike">
              <a:solidFill>
                <a:schemeClr val="lt1"/>
              </a:solidFill>
              <a:latin typeface="Calibri"/>
              <a:ea typeface="Calibri"/>
              <a:cs typeface="Calibri"/>
              <a:sym typeface="Calibri"/>
            </a:endParaRPr>
          </a:p>
          <a:p>
            <a:pPr indent="0" lvl="0" marL="0" rtl="0" algn="l">
              <a:spcBef>
                <a:spcPts val="0"/>
              </a:spcBef>
              <a:spcAft>
                <a:spcPts val="0"/>
              </a:spcAft>
              <a:buClr>
                <a:srgbClr val="B0BEC5"/>
              </a:buClr>
              <a:buSzPts val="850"/>
              <a:buFont typeface="Calibri"/>
              <a:buNone/>
            </a:pPr>
            <a:r>
              <a:rPr lang="en" sz="1250">
                <a:solidFill>
                  <a:schemeClr val="lt1"/>
                </a:solidFill>
                <a:latin typeface="Calibri"/>
                <a:ea typeface="Calibri"/>
                <a:cs typeface="Calibri"/>
                <a:sym typeface="Calibri"/>
              </a:rPr>
              <a:t>December 2025 and March 2026 are partial months, MoM growth references January and February only. Extended trend analysis was not performed given only two complete months are available</a:t>
            </a:r>
            <a:endParaRPr sz="1250">
              <a:solidFill>
                <a:schemeClr val="lt1"/>
              </a:solidFill>
              <a:latin typeface="Calibri"/>
              <a:ea typeface="Calibri"/>
              <a:cs typeface="Calibri"/>
              <a:sym typeface="Calibri"/>
            </a:endParaRPr>
          </a:p>
          <a:p>
            <a:pPr indent="0" lvl="0" marL="0" rtl="0" algn="l">
              <a:spcBef>
                <a:spcPts val="0"/>
              </a:spcBef>
              <a:spcAft>
                <a:spcPts val="0"/>
              </a:spcAft>
              <a:buClr>
                <a:srgbClr val="B0BEC5"/>
              </a:buClr>
              <a:buSzPts val="850"/>
              <a:buFont typeface="Calibri"/>
              <a:buNone/>
            </a:pPr>
            <a:r>
              <a:rPr lang="en" sz="1250">
                <a:solidFill>
                  <a:schemeClr val="lt1"/>
                </a:solidFill>
                <a:latin typeface="Calibri"/>
                <a:ea typeface="Calibri"/>
                <a:cs typeface="Calibri"/>
                <a:sym typeface="Calibri"/>
              </a:rPr>
              <a:t>Three cashback rate bands identified from derived cashback rate column (0.25%, 0.50%, 0.75%+) indicating a tiered pricing structure. Irregular decimal values also observed, likely reflecting fixed-amount cashback arrangements</a:t>
            </a:r>
            <a:endParaRPr sz="1250">
              <a:solidFill>
                <a:schemeClr val="lt1"/>
              </a:solidFill>
              <a:latin typeface="Calibri"/>
              <a:ea typeface="Calibri"/>
              <a:cs typeface="Calibri"/>
              <a:sym typeface="Calibri"/>
            </a:endParaRPr>
          </a:p>
          <a:p>
            <a:pPr indent="0" lvl="0" marL="0" rtl="0" algn="l">
              <a:spcBef>
                <a:spcPts val="0"/>
              </a:spcBef>
              <a:spcAft>
                <a:spcPts val="0"/>
              </a:spcAft>
              <a:buClr>
                <a:srgbClr val="B0BEC5"/>
              </a:buClr>
              <a:buSzPts val="850"/>
              <a:buFont typeface="Calibri"/>
              <a:buNone/>
            </a:pPr>
            <a:r>
              <a:t/>
            </a:r>
            <a:endParaRPr sz="1250">
              <a:solidFill>
                <a:schemeClr val="lt1"/>
              </a:solidFill>
              <a:latin typeface="Calibri"/>
              <a:ea typeface="Calibri"/>
              <a:cs typeface="Calibri"/>
              <a:sym typeface="Calibri"/>
            </a:endParaRPr>
          </a:p>
        </p:txBody>
      </p:sp>
      <p:sp>
        <p:nvSpPr>
          <p:cNvPr id="71" name="Google Shape;71;p15"/>
          <p:cNvSpPr/>
          <p:nvPr/>
        </p:nvSpPr>
        <p:spPr>
          <a:xfrm>
            <a:off x="4617720" y="2002531"/>
            <a:ext cx="255900" cy="255900"/>
          </a:xfrm>
          <a:prstGeom prst="ellipse">
            <a:avLst/>
          </a:prstGeom>
          <a:solidFill>
            <a:srgbClr val="0D3349"/>
          </a:solidFill>
          <a:ln cap="flat" cmpd="sng" w="9525">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a:off x="4617795" y="2002519"/>
            <a:ext cx="2559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CD4"/>
              </a:buClr>
              <a:buSzPts val="900"/>
              <a:buFont typeface="Calibri"/>
              <a:buNone/>
            </a:pPr>
            <a:r>
              <a:rPr b="1" i="0" lang="en" sz="900" u="none" cap="none" strike="noStrike">
                <a:solidFill>
                  <a:srgbClr val="00BCD4"/>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73" name="Google Shape;73;p15"/>
          <p:cNvSpPr/>
          <p:nvPr/>
        </p:nvSpPr>
        <p:spPr>
          <a:xfrm>
            <a:off x="4617720" y="2724912"/>
            <a:ext cx="256032" cy="256032"/>
          </a:xfrm>
          <a:prstGeom prst="ellipse">
            <a:avLst/>
          </a:prstGeom>
          <a:solidFill>
            <a:srgbClr val="0D3349"/>
          </a:solidFill>
          <a:ln cap="flat" cmpd="sng" w="9525">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5"/>
          <p:cNvSpPr/>
          <p:nvPr/>
        </p:nvSpPr>
        <p:spPr>
          <a:xfrm>
            <a:off x="4617720" y="2724912"/>
            <a:ext cx="256032"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CD4"/>
              </a:buClr>
              <a:buSzPts val="900"/>
              <a:buFont typeface="Calibri"/>
              <a:buNone/>
            </a:pPr>
            <a:r>
              <a:rPr b="1" i="0" lang="en" sz="900" u="none" cap="none" strike="noStrike">
                <a:solidFill>
                  <a:srgbClr val="00BCD4"/>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9" name="Shape 79"/>
        <p:cNvGrpSpPr/>
        <p:nvPr/>
      </p:nvGrpSpPr>
      <p:grpSpPr>
        <a:xfrm>
          <a:off x="0" y="0"/>
          <a:ext cx="0" cy="0"/>
          <a:chOff x="0" y="0"/>
          <a:chExt cx="0" cy="0"/>
        </a:xfrm>
      </p:grpSpPr>
      <p:sp>
        <p:nvSpPr>
          <p:cNvPr id="80" name="Google Shape;80;p16"/>
          <p:cNvSpPr/>
          <p:nvPr/>
        </p:nvSpPr>
        <p:spPr>
          <a:xfrm>
            <a:off x="0" y="0"/>
            <a:ext cx="9144000" cy="1051560"/>
          </a:xfrm>
          <a:prstGeom prst="rect">
            <a:avLst/>
          </a:prstGeom>
          <a:solidFill>
            <a:srgbClr val="E69138"/>
          </a:solidFill>
          <a:ln cap="flat" cmpd="sng" w="12700">
            <a:solidFill>
              <a:srgbClr val="0D21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p:nvPr/>
        </p:nvSpPr>
        <p:spPr>
          <a:xfrm>
            <a:off x="0" y="0"/>
            <a:ext cx="201168" cy="1051560"/>
          </a:xfrm>
          <a:prstGeom prst="rect">
            <a:avLst/>
          </a:prstGeom>
          <a:solidFill>
            <a:schemeClr val="dk1"/>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p:nvPr/>
        </p:nvSpPr>
        <p:spPr>
          <a:xfrm>
            <a:off x="347472" y="91440"/>
            <a:ext cx="85953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1" lang="en" sz="2000" u="none" cap="none" strike="noStrike">
                <a:solidFill>
                  <a:srgbClr val="FFFFFF"/>
                </a:solidFill>
                <a:latin typeface="Calibri"/>
                <a:ea typeface="Calibri"/>
                <a:cs typeface="Calibri"/>
                <a:sym typeface="Calibri"/>
              </a:rPr>
              <a:t>$7.42M processed across 2,000 transactions</a:t>
            </a:r>
            <a:r>
              <a:rPr b="1" i="1" lang="en" sz="2000">
                <a:solidFill>
                  <a:srgbClr val="FFFFFF"/>
                </a:solidFill>
                <a:latin typeface="Calibri"/>
                <a:ea typeface="Calibri"/>
                <a:cs typeface="Calibri"/>
                <a:sym typeface="Calibri"/>
              </a:rPr>
              <a:t>| </a:t>
            </a:r>
            <a:r>
              <a:rPr b="1" i="1" lang="en" sz="2000" u="none" cap="none" strike="noStrike">
                <a:solidFill>
                  <a:srgbClr val="FFFFFF"/>
                </a:solidFill>
                <a:latin typeface="Calibri"/>
                <a:ea typeface="Calibri"/>
                <a:cs typeface="Calibri"/>
                <a:sym typeface="Calibri"/>
              </a:rPr>
              <a:t>February grew 41.5% driven by broader industry participation</a:t>
            </a:r>
            <a:endParaRPr b="0" i="1" sz="2000" u="none" cap="none" strike="noStrike">
              <a:solidFill>
                <a:schemeClr val="dk1"/>
              </a:solidFill>
              <a:latin typeface="Calibri"/>
              <a:ea typeface="Calibri"/>
              <a:cs typeface="Calibri"/>
              <a:sym typeface="Calibri"/>
            </a:endParaRPr>
          </a:p>
        </p:txBody>
      </p:sp>
      <p:sp>
        <p:nvSpPr>
          <p:cNvPr id="83" name="Google Shape;83;p16"/>
          <p:cNvSpPr/>
          <p:nvPr/>
        </p:nvSpPr>
        <p:spPr>
          <a:xfrm>
            <a:off x="347472" y="594360"/>
            <a:ext cx="8595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00"/>
              <a:buFont typeface="Calibri"/>
              <a:buNone/>
            </a:pPr>
            <a:r>
              <a:rPr b="0" i="1" lang="en" sz="1200" u="none" cap="none" strike="noStrike">
                <a:solidFill>
                  <a:schemeClr val="dk1"/>
                </a:solidFill>
                <a:latin typeface="Calibri"/>
                <a:ea typeface="Calibri"/>
                <a:cs typeface="Calibri"/>
                <a:sym typeface="Calibri"/>
              </a:rPr>
              <a:t>Payment Volume Trends    </a:t>
            </a:r>
            <a:endParaRPr b="0" i="0" sz="1200" u="none" cap="none" strike="noStrike">
              <a:solidFill>
                <a:schemeClr val="dk1"/>
              </a:solidFill>
              <a:latin typeface="Calibri"/>
              <a:ea typeface="Calibri"/>
              <a:cs typeface="Calibri"/>
              <a:sym typeface="Calibri"/>
            </a:endParaRPr>
          </a:p>
        </p:txBody>
      </p:sp>
      <p:sp>
        <p:nvSpPr>
          <p:cNvPr id="84" name="Google Shape;84;p16"/>
          <p:cNvSpPr/>
          <p:nvPr/>
        </p:nvSpPr>
        <p:spPr>
          <a:xfrm>
            <a:off x="0" y="4983480"/>
            <a:ext cx="9144000" cy="160020"/>
          </a:xfrm>
          <a:prstGeom prst="rect">
            <a:avLst/>
          </a:prstGeom>
          <a:solidFill>
            <a:srgbClr val="0D2137"/>
          </a:solidFill>
          <a:ln cap="flat" cmpd="sng" w="12700">
            <a:solidFill>
              <a:srgbClr val="0D21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6"/>
          <p:cNvSpPr/>
          <p:nvPr/>
        </p:nvSpPr>
        <p:spPr>
          <a:xfrm>
            <a:off x="320040" y="1143000"/>
            <a:ext cx="2651760" cy="777240"/>
          </a:xfrm>
          <a:prstGeom prst="rect">
            <a:avLst/>
          </a:prstGeom>
          <a:solidFill>
            <a:srgbClr val="FFFFFF"/>
          </a:solidFill>
          <a:ln cap="flat" cmpd="sng" w="9525">
            <a:solidFill>
              <a:srgbClr val="E2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p:nvPr/>
        </p:nvSpPr>
        <p:spPr>
          <a:xfrm>
            <a:off x="320040" y="1170432"/>
            <a:ext cx="265176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5C0"/>
              </a:buClr>
              <a:buSzPts val="2400"/>
              <a:buFont typeface="Calibri"/>
              <a:buNone/>
            </a:pPr>
            <a:r>
              <a:rPr b="1" i="0" lang="en" sz="2400" u="none" cap="none" strike="noStrike">
                <a:solidFill>
                  <a:srgbClr val="E69138"/>
                </a:solidFill>
                <a:latin typeface="Calibri"/>
                <a:ea typeface="Calibri"/>
                <a:cs typeface="Calibri"/>
                <a:sym typeface="Calibri"/>
              </a:rPr>
              <a:t>$7.42M</a:t>
            </a:r>
            <a:endParaRPr b="0" i="0" sz="2400" u="none" cap="none" strike="noStrike">
              <a:solidFill>
                <a:srgbClr val="E69138"/>
              </a:solidFill>
              <a:latin typeface="Calibri"/>
              <a:ea typeface="Calibri"/>
              <a:cs typeface="Calibri"/>
              <a:sym typeface="Calibri"/>
            </a:endParaRPr>
          </a:p>
        </p:txBody>
      </p:sp>
      <p:sp>
        <p:nvSpPr>
          <p:cNvPr id="87" name="Google Shape;87;p16"/>
          <p:cNvSpPr/>
          <p:nvPr/>
        </p:nvSpPr>
        <p:spPr>
          <a:xfrm>
            <a:off x="320040" y="1572768"/>
            <a:ext cx="26517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02C"/>
              </a:buClr>
              <a:buSzPts val="900"/>
              <a:buFont typeface="Calibri"/>
              <a:buNone/>
            </a:pPr>
            <a:r>
              <a:rPr b="1" i="0" lang="en" sz="900" u="none" cap="none" strike="noStrike">
                <a:solidFill>
                  <a:srgbClr val="1A202C"/>
                </a:solidFill>
                <a:latin typeface="Calibri"/>
                <a:ea typeface="Calibri"/>
                <a:cs typeface="Calibri"/>
                <a:sym typeface="Calibri"/>
              </a:rPr>
              <a:t>Total Card Spend</a:t>
            </a:r>
            <a:endParaRPr b="0" i="0" sz="900" u="none" cap="none" strike="noStrike">
              <a:solidFill>
                <a:schemeClr val="dk1"/>
              </a:solidFill>
              <a:latin typeface="Calibri"/>
              <a:ea typeface="Calibri"/>
              <a:cs typeface="Calibri"/>
              <a:sym typeface="Calibri"/>
            </a:endParaRPr>
          </a:p>
        </p:txBody>
      </p:sp>
      <p:sp>
        <p:nvSpPr>
          <p:cNvPr id="88" name="Google Shape;88;p16"/>
          <p:cNvSpPr/>
          <p:nvPr/>
        </p:nvSpPr>
        <p:spPr>
          <a:xfrm>
            <a:off x="320040" y="1737360"/>
            <a:ext cx="2651760"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0A4AE"/>
              </a:buClr>
              <a:buSzPts val="800"/>
              <a:buFont typeface="Calibri"/>
              <a:buNone/>
            </a:pPr>
            <a:r>
              <a:rPr b="0" i="0" lang="en" sz="800" u="none" cap="none" strike="noStrike">
                <a:solidFill>
                  <a:srgbClr val="90A4AE"/>
                </a:solidFill>
                <a:latin typeface="Calibri"/>
                <a:ea typeface="Calibri"/>
                <a:cs typeface="Calibri"/>
                <a:sym typeface="Calibri"/>
              </a:rPr>
              <a:t>All 4 months</a:t>
            </a:r>
            <a:endParaRPr b="0" i="0" sz="800" u="none" cap="none" strike="noStrike">
              <a:solidFill>
                <a:schemeClr val="dk1"/>
              </a:solidFill>
              <a:latin typeface="Calibri"/>
              <a:ea typeface="Calibri"/>
              <a:cs typeface="Calibri"/>
              <a:sym typeface="Calibri"/>
            </a:endParaRPr>
          </a:p>
        </p:txBody>
      </p:sp>
      <p:sp>
        <p:nvSpPr>
          <p:cNvPr id="89" name="Google Shape;89;p16"/>
          <p:cNvSpPr/>
          <p:nvPr/>
        </p:nvSpPr>
        <p:spPr>
          <a:xfrm>
            <a:off x="3172968" y="1143000"/>
            <a:ext cx="2651760" cy="777240"/>
          </a:xfrm>
          <a:prstGeom prst="rect">
            <a:avLst/>
          </a:prstGeom>
          <a:solidFill>
            <a:srgbClr val="FFFFFF"/>
          </a:solidFill>
          <a:ln cap="flat" cmpd="sng" w="9525">
            <a:solidFill>
              <a:srgbClr val="E2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p:nvPr/>
        </p:nvSpPr>
        <p:spPr>
          <a:xfrm>
            <a:off x="3172968" y="1170432"/>
            <a:ext cx="265176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5C0"/>
              </a:buClr>
              <a:buSzPts val="2400"/>
              <a:buFont typeface="Calibri"/>
              <a:buNone/>
            </a:pPr>
            <a:r>
              <a:rPr b="1" i="0" lang="en" sz="2400" u="none" cap="none" strike="noStrike">
                <a:solidFill>
                  <a:srgbClr val="E69138"/>
                </a:solidFill>
                <a:latin typeface="Calibri"/>
                <a:ea typeface="Calibri"/>
                <a:cs typeface="Calibri"/>
                <a:sym typeface="Calibri"/>
              </a:rPr>
              <a:t>2,000</a:t>
            </a:r>
            <a:endParaRPr b="0" i="0" sz="2400" u="none" cap="none" strike="noStrike">
              <a:solidFill>
                <a:srgbClr val="E69138"/>
              </a:solidFill>
              <a:latin typeface="Calibri"/>
              <a:ea typeface="Calibri"/>
              <a:cs typeface="Calibri"/>
              <a:sym typeface="Calibri"/>
            </a:endParaRPr>
          </a:p>
        </p:txBody>
      </p:sp>
      <p:sp>
        <p:nvSpPr>
          <p:cNvPr id="91" name="Google Shape;91;p16"/>
          <p:cNvSpPr/>
          <p:nvPr/>
        </p:nvSpPr>
        <p:spPr>
          <a:xfrm>
            <a:off x="3172968" y="1572768"/>
            <a:ext cx="26517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02C"/>
              </a:buClr>
              <a:buSzPts val="900"/>
              <a:buFont typeface="Calibri"/>
              <a:buNone/>
            </a:pPr>
            <a:r>
              <a:rPr b="1" i="0" lang="en" sz="900" u="none" cap="none" strike="noStrike">
                <a:solidFill>
                  <a:srgbClr val="1A202C"/>
                </a:solidFill>
                <a:latin typeface="Calibri"/>
                <a:ea typeface="Calibri"/>
                <a:cs typeface="Calibri"/>
                <a:sym typeface="Calibri"/>
              </a:rPr>
              <a:t>Transactions</a:t>
            </a:r>
            <a:endParaRPr b="0" i="0" sz="900" u="none" cap="none" strike="noStrike">
              <a:solidFill>
                <a:schemeClr val="dk1"/>
              </a:solidFill>
              <a:latin typeface="Calibri"/>
              <a:ea typeface="Calibri"/>
              <a:cs typeface="Calibri"/>
              <a:sym typeface="Calibri"/>
            </a:endParaRPr>
          </a:p>
        </p:txBody>
      </p:sp>
      <p:sp>
        <p:nvSpPr>
          <p:cNvPr id="92" name="Google Shape;92;p16"/>
          <p:cNvSpPr/>
          <p:nvPr/>
        </p:nvSpPr>
        <p:spPr>
          <a:xfrm>
            <a:off x="3172968" y="1737360"/>
            <a:ext cx="2651760"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0A4AE"/>
              </a:buClr>
              <a:buSzPts val="800"/>
              <a:buFont typeface="Calibri"/>
              <a:buNone/>
            </a:pPr>
            <a:r>
              <a:rPr b="0" i="0" lang="en" sz="800" u="none" cap="none" strike="noStrike">
                <a:solidFill>
                  <a:srgbClr val="90A4AE"/>
                </a:solidFill>
                <a:latin typeface="Calibri"/>
                <a:ea typeface="Calibri"/>
                <a:cs typeface="Calibri"/>
                <a:sym typeface="Calibri"/>
              </a:rPr>
              <a:t>Completed payments</a:t>
            </a:r>
            <a:endParaRPr b="0" i="0" sz="800" u="none" cap="none" strike="noStrike">
              <a:solidFill>
                <a:schemeClr val="dk1"/>
              </a:solidFill>
              <a:latin typeface="Calibri"/>
              <a:ea typeface="Calibri"/>
              <a:cs typeface="Calibri"/>
              <a:sym typeface="Calibri"/>
            </a:endParaRPr>
          </a:p>
        </p:txBody>
      </p:sp>
      <p:sp>
        <p:nvSpPr>
          <p:cNvPr id="93" name="Google Shape;93;p16"/>
          <p:cNvSpPr/>
          <p:nvPr/>
        </p:nvSpPr>
        <p:spPr>
          <a:xfrm>
            <a:off x="6025896" y="1143000"/>
            <a:ext cx="2651760" cy="777240"/>
          </a:xfrm>
          <a:prstGeom prst="rect">
            <a:avLst/>
          </a:prstGeom>
          <a:solidFill>
            <a:srgbClr val="FFFFFF"/>
          </a:solidFill>
          <a:ln cap="flat" cmpd="sng" w="9525">
            <a:solidFill>
              <a:srgbClr val="E2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6"/>
          <p:cNvSpPr/>
          <p:nvPr/>
        </p:nvSpPr>
        <p:spPr>
          <a:xfrm>
            <a:off x="6025896" y="1170432"/>
            <a:ext cx="265176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5C0"/>
              </a:buClr>
              <a:buSzPts val="2400"/>
              <a:buFont typeface="Calibri"/>
              <a:buNone/>
            </a:pPr>
            <a:r>
              <a:rPr b="1" i="0" lang="en" sz="2400" u="none" cap="none" strike="noStrike">
                <a:solidFill>
                  <a:srgbClr val="E69138"/>
                </a:solidFill>
                <a:latin typeface="Calibri"/>
                <a:ea typeface="Calibri"/>
                <a:cs typeface="Calibri"/>
                <a:sym typeface="Calibri"/>
              </a:rPr>
              <a:t>$3.71K</a:t>
            </a:r>
            <a:endParaRPr b="0" i="0" sz="2400" u="none" cap="none" strike="noStrike">
              <a:solidFill>
                <a:srgbClr val="E69138"/>
              </a:solidFill>
              <a:latin typeface="Calibri"/>
              <a:ea typeface="Calibri"/>
              <a:cs typeface="Calibri"/>
              <a:sym typeface="Calibri"/>
            </a:endParaRPr>
          </a:p>
        </p:txBody>
      </p:sp>
      <p:sp>
        <p:nvSpPr>
          <p:cNvPr id="95" name="Google Shape;95;p16"/>
          <p:cNvSpPr/>
          <p:nvPr/>
        </p:nvSpPr>
        <p:spPr>
          <a:xfrm>
            <a:off x="6025896" y="1572768"/>
            <a:ext cx="26517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02C"/>
              </a:buClr>
              <a:buSzPts val="900"/>
              <a:buFont typeface="Calibri"/>
              <a:buNone/>
            </a:pPr>
            <a:r>
              <a:rPr b="1" i="0" lang="en" sz="900" u="none" cap="none" strike="noStrike">
                <a:solidFill>
                  <a:srgbClr val="1A202C"/>
                </a:solidFill>
                <a:latin typeface="Calibri"/>
                <a:ea typeface="Calibri"/>
                <a:cs typeface="Calibri"/>
                <a:sym typeface="Calibri"/>
              </a:rPr>
              <a:t>Avg Transaction</a:t>
            </a:r>
            <a:endParaRPr b="0" i="0" sz="900" u="none" cap="none" strike="noStrike">
              <a:solidFill>
                <a:schemeClr val="dk1"/>
              </a:solidFill>
              <a:latin typeface="Calibri"/>
              <a:ea typeface="Calibri"/>
              <a:cs typeface="Calibri"/>
              <a:sym typeface="Calibri"/>
            </a:endParaRPr>
          </a:p>
        </p:txBody>
      </p:sp>
      <p:sp>
        <p:nvSpPr>
          <p:cNvPr id="96" name="Google Shape;96;p16"/>
          <p:cNvSpPr/>
          <p:nvPr/>
        </p:nvSpPr>
        <p:spPr>
          <a:xfrm>
            <a:off x="6025896" y="1737360"/>
            <a:ext cx="2651760" cy="155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0A4AE"/>
              </a:buClr>
              <a:buSzPts val="800"/>
              <a:buFont typeface="Calibri"/>
              <a:buNone/>
            </a:pPr>
            <a:r>
              <a:rPr b="0" i="0" lang="en" sz="800" u="none" cap="none" strike="noStrike">
                <a:solidFill>
                  <a:srgbClr val="90A4AE"/>
                </a:solidFill>
                <a:latin typeface="Calibri"/>
                <a:ea typeface="Calibri"/>
                <a:cs typeface="Calibri"/>
                <a:sym typeface="Calibri"/>
              </a:rPr>
              <a:t>Per payment</a:t>
            </a:r>
            <a:endParaRPr b="0" i="0" sz="800" u="none" cap="none" strike="noStrike">
              <a:solidFill>
                <a:schemeClr val="dk1"/>
              </a:solidFill>
              <a:latin typeface="Calibri"/>
              <a:ea typeface="Calibri"/>
              <a:cs typeface="Calibri"/>
              <a:sym typeface="Calibri"/>
            </a:endParaRPr>
          </a:p>
        </p:txBody>
      </p:sp>
      <p:sp>
        <p:nvSpPr>
          <p:cNvPr id="97" name="Google Shape;97;p16"/>
          <p:cNvSpPr/>
          <p:nvPr/>
        </p:nvSpPr>
        <p:spPr>
          <a:xfrm>
            <a:off x="320048" y="2029975"/>
            <a:ext cx="4447500" cy="2633400"/>
          </a:xfrm>
          <a:prstGeom prst="rect">
            <a:avLst/>
          </a:prstGeom>
          <a:solidFill>
            <a:srgbClr val="FFFFFF"/>
          </a:solidFill>
          <a:ln cap="flat" cmpd="sng" w="9525">
            <a:solidFill>
              <a:srgbClr val="E2E8F0"/>
            </a:solidFill>
            <a:prstDash val="dash"/>
            <a:round/>
            <a:headEnd len="sm" w="sm" type="none"/>
            <a:tailEnd len="sm" w="sm" type="none"/>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p:nvPr/>
        </p:nvSpPr>
        <p:spPr>
          <a:xfrm>
            <a:off x="4842700" y="3535475"/>
            <a:ext cx="4056300" cy="1374600"/>
          </a:xfrm>
          <a:prstGeom prst="rect">
            <a:avLst/>
          </a:prstGeom>
          <a:solidFill>
            <a:srgbClr val="E69138"/>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6"/>
          <p:cNvSpPr/>
          <p:nvPr/>
        </p:nvSpPr>
        <p:spPr>
          <a:xfrm>
            <a:off x="4842700" y="3535475"/>
            <a:ext cx="4056300" cy="137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850"/>
              <a:buFont typeface="Calibri"/>
              <a:buNone/>
            </a:pPr>
            <a:r>
              <a:rPr i="1" lang="en" sz="1300">
                <a:solidFill>
                  <a:schemeClr val="dk1"/>
                </a:solidFill>
                <a:latin typeface="Calibri"/>
                <a:ea typeface="Calibri"/>
                <a:cs typeface="Calibri"/>
                <a:sym typeface="Calibri"/>
              </a:rPr>
              <a:t>January to February card spend increased 41.5%, transaction count grew 31% and average transaction size grew 8%. MoM growth is calculated between January and February only as the two complete months in the dataset, December and March are partial months and excluded from this calculation to avoid distortion from unequal time periods</a:t>
            </a:r>
            <a:endParaRPr b="0" i="0" sz="1300" u="none" cap="none" strike="noStrike">
              <a:solidFill>
                <a:schemeClr val="dk1"/>
              </a:solidFill>
              <a:latin typeface="Calibri"/>
              <a:ea typeface="Calibri"/>
              <a:cs typeface="Calibri"/>
              <a:sym typeface="Calibri"/>
            </a:endParaRPr>
          </a:p>
        </p:txBody>
      </p:sp>
      <p:pic>
        <p:nvPicPr>
          <p:cNvPr id="100" name="Google Shape;100;p16"/>
          <p:cNvPicPr preferRelativeResize="0"/>
          <p:nvPr/>
        </p:nvPicPr>
        <p:blipFill>
          <a:blip r:embed="rId3">
            <a:alphaModFix/>
          </a:blip>
          <a:stretch>
            <a:fillRect/>
          </a:stretch>
        </p:blipFill>
        <p:spPr>
          <a:xfrm>
            <a:off x="320050" y="2052832"/>
            <a:ext cx="3740731" cy="2633475"/>
          </a:xfrm>
          <a:prstGeom prst="rect">
            <a:avLst/>
          </a:prstGeom>
          <a:noFill/>
          <a:ln>
            <a:noFill/>
          </a:ln>
        </p:spPr>
      </p:pic>
      <p:pic>
        <p:nvPicPr>
          <p:cNvPr id="101" name="Google Shape;101;p16"/>
          <p:cNvPicPr preferRelativeResize="0"/>
          <p:nvPr/>
        </p:nvPicPr>
        <p:blipFill>
          <a:blip r:embed="rId4">
            <a:alphaModFix/>
          </a:blip>
          <a:stretch>
            <a:fillRect/>
          </a:stretch>
        </p:blipFill>
        <p:spPr>
          <a:xfrm>
            <a:off x="4842700" y="2029975"/>
            <a:ext cx="4245763" cy="13065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6" name="Shape 106"/>
        <p:cNvGrpSpPr/>
        <p:nvPr/>
      </p:nvGrpSpPr>
      <p:grpSpPr>
        <a:xfrm>
          <a:off x="0" y="0"/>
          <a:ext cx="0" cy="0"/>
          <a:chOff x="0" y="0"/>
          <a:chExt cx="0" cy="0"/>
        </a:xfrm>
      </p:grpSpPr>
      <p:sp>
        <p:nvSpPr>
          <p:cNvPr id="107" name="Google Shape;107;p17"/>
          <p:cNvSpPr/>
          <p:nvPr/>
        </p:nvSpPr>
        <p:spPr>
          <a:xfrm>
            <a:off x="0" y="0"/>
            <a:ext cx="9144000" cy="1051560"/>
          </a:xfrm>
          <a:prstGeom prst="rect">
            <a:avLst/>
          </a:prstGeom>
          <a:solidFill>
            <a:srgbClr val="E69138"/>
          </a:solidFill>
          <a:ln cap="flat" cmpd="sng" w="12700">
            <a:solidFill>
              <a:srgbClr val="0D21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108" name="Google Shape;108;p17"/>
          <p:cNvSpPr/>
          <p:nvPr/>
        </p:nvSpPr>
        <p:spPr>
          <a:xfrm>
            <a:off x="0" y="0"/>
            <a:ext cx="201168" cy="1051560"/>
          </a:xfrm>
          <a:prstGeom prst="rect">
            <a:avLst/>
          </a:prstGeom>
          <a:solidFill>
            <a:schemeClr val="dk1"/>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7"/>
          <p:cNvSpPr/>
          <p:nvPr/>
        </p:nvSpPr>
        <p:spPr>
          <a:xfrm>
            <a:off x="347472" y="91440"/>
            <a:ext cx="85953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1" lang="en" sz="2000" u="none" cap="none" strike="noStrike">
                <a:solidFill>
                  <a:srgbClr val="FFFFFF"/>
                </a:solidFill>
                <a:latin typeface="Calibri"/>
                <a:ea typeface="Calibri"/>
                <a:cs typeface="Calibri"/>
                <a:sym typeface="Calibri"/>
              </a:rPr>
              <a:t>Every $100 in card spend generates $1.92 in interchange </a:t>
            </a:r>
            <a:r>
              <a:rPr b="1" i="1" lang="en" sz="2000">
                <a:solidFill>
                  <a:srgbClr val="FFFFFF"/>
                </a:solidFill>
                <a:latin typeface="Calibri"/>
                <a:ea typeface="Calibri"/>
                <a:cs typeface="Calibri"/>
                <a:sym typeface="Calibri"/>
              </a:rPr>
              <a:t>|</a:t>
            </a:r>
            <a:r>
              <a:rPr b="1" i="1" lang="en" sz="2000" u="none" cap="none" strike="noStrike">
                <a:solidFill>
                  <a:srgbClr val="FFFFFF"/>
                </a:solidFill>
                <a:latin typeface="Calibri"/>
                <a:ea typeface="Calibri"/>
                <a:cs typeface="Calibri"/>
                <a:sym typeface="Calibri"/>
              </a:rPr>
              <a:t> retains 49.5 cents of every dollar earned</a:t>
            </a:r>
            <a:endParaRPr b="0" i="1" sz="2000" u="none" cap="none" strike="noStrike">
              <a:solidFill>
                <a:schemeClr val="dk1"/>
              </a:solidFill>
              <a:latin typeface="Calibri"/>
              <a:ea typeface="Calibri"/>
              <a:cs typeface="Calibri"/>
              <a:sym typeface="Calibri"/>
            </a:endParaRPr>
          </a:p>
        </p:txBody>
      </p:sp>
      <p:sp>
        <p:nvSpPr>
          <p:cNvPr id="110" name="Google Shape;110;p17"/>
          <p:cNvSpPr/>
          <p:nvPr/>
        </p:nvSpPr>
        <p:spPr>
          <a:xfrm>
            <a:off x="347472" y="594360"/>
            <a:ext cx="8595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000"/>
              <a:buFont typeface="Calibri"/>
              <a:buNone/>
            </a:pPr>
            <a:r>
              <a:rPr b="0" i="1" lang="en" sz="1200" u="none" cap="none" strike="noStrike">
                <a:solidFill>
                  <a:schemeClr val="dk1"/>
                </a:solidFill>
                <a:latin typeface="Calibri"/>
                <a:ea typeface="Calibri"/>
                <a:cs typeface="Calibri"/>
                <a:sym typeface="Calibri"/>
              </a:rPr>
              <a:t>Revenue Economics  |  Interchange Generation &amp; Distribution</a:t>
            </a:r>
            <a:endParaRPr b="0" i="0" sz="1200" u="none" cap="none" strike="noStrike">
              <a:solidFill>
                <a:schemeClr val="dk1"/>
              </a:solidFill>
              <a:latin typeface="Calibri"/>
              <a:ea typeface="Calibri"/>
              <a:cs typeface="Calibri"/>
              <a:sym typeface="Calibri"/>
            </a:endParaRPr>
          </a:p>
        </p:txBody>
      </p:sp>
      <p:sp>
        <p:nvSpPr>
          <p:cNvPr id="111" name="Google Shape;111;p17"/>
          <p:cNvSpPr/>
          <p:nvPr/>
        </p:nvSpPr>
        <p:spPr>
          <a:xfrm>
            <a:off x="320040" y="1143000"/>
            <a:ext cx="2651760" cy="804672"/>
          </a:xfrm>
          <a:prstGeom prst="rect">
            <a:avLst/>
          </a:prstGeom>
          <a:solidFill>
            <a:srgbClr val="FFFFFF"/>
          </a:solidFill>
          <a:ln cap="flat" cmpd="sng" w="15225">
            <a:solidFill>
              <a:srgbClr val="1565C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a:off x="320040" y="1110988"/>
            <a:ext cx="2651700" cy="2013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7"/>
          <p:cNvSpPr/>
          <p:nvPr/>
        </p:nvSpPr>
        <p:spPr>
          <a:xfrm>
            <a:off x="320090" y="1239038"/>
            <a:ext cx="26517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5C0"/>
              </a:buClr>
              <a:buSzPts val="2600"/>
              <a:buFont typeface="Calibri"/>
              <a:buNone/>
            </a:pPr>
            <a:r>
              <a:rPr b="1" i="0" lang="en" sz="2100" u="none" cap="none" strike="noStrike">
                <a:solidFill>
                  <a:srgbClr val="1565C0"/>
                </a:solidFill>
                <a:latin typeface="Calibri"/>
                <a:ea typeface="Calibri"/>
                <a:cs typeface="Calibri"/>
                <a:sym typeface="Calibri"/>
              </a:rPr>
              <a:t>1.92%</a:t>
            </a:r>
            <a:endParaRPr b="0" i="0" sz="2100" u="none" cap="none" strike="noStrike">
              <a:solidFill>
                <a:schemeClr val="dk1"/>
              </a:solidFill>
              <a:latin typeface="Calibri"/>
              <a:ea typeface="Calibri"/>
              <a:cs typeface="Calibri"/>
              <a:sym typeface="Calibri"/>
            </a:endParaRPr>
          </a:p>
        </p:txBody>
      </p:sp>
      <p:sp>
        <p:nvSpPr>
          <p:cNvPr id="114" name="Google Shape;114;p17"/>
          <p:cNvSpPr/>
          <p:nvPr/>
        </p:nvSpPr>
        <p:spPr>
          <a:xfrm>
            <a:off x="320090" y="1618509"/>
            <a:ext cx="26517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02C"/>
              </a:buClr>
              <a:buSzPts val="900"/>
              <a:buFont typeface="Calibri"/>
              <a:buNone/>
            </a:pPr>
            <a:r>
              <a:rPr b="1" i="0" lang="en" sz="900" u="none" cap="none" strike="noStrike">
                <a:solidFill>
                  <a:srgbClr val="1A202C"/>
                </a:solidFill>
                <a:latin typeface="Calibri"/>
                <a:ea typeface="Calibri"/>
                <a:cs typeface="Calibri"/>
                <a:sym typeface="Calibri"/>
              </a:rPr>
              <a:t>Interchange Rate</a:t>
            </a:r>
            <a:endParaRPr b="0" i="0" sz="900" u="none" cap="none" strike="noStrike">
              <a:solidFill>
                <a:schemeClr val="dk1"/>
              </a:solidFill>
              <a:latin typeface="Calibri"/>
              <a:ea typeface="Calibri"/>
              <a:cs typeface="Calibri"/>
              <a:sym typeface="Calibri"/>
            </a:endParaRPr>
          </a:p>
        </p:txBody>
      </p:sp>
      <p:sp>
        <p:nvSpPr>
          <p:cNvPr id="115" name="Google Shape;115;p17"/>
          <p:cNvSpPr/>
          <p:nvPr/>
        </p:nvSpPr>
        <p:spPr>
          <a:xfrm>
            <a:off x="320090" y="1773932"/>
            <a:ext cx="2651700" cy="15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00"/>
              <a:buFont typeface="Calibri"/>
              <a:buNone/>
            </a:pPr>
            <a:r>
              <a:rPr b="0" i="0" lang="en" sz="800" u="none" cap="none" strike="noStrike">
                <a:solidFill>
                  <a:srgbClr val="64748B"/>
                </a:solidFill>
                <a:latin typeface="Calibri"/>
                <a:ea typeface="Calibri"/>
                <a:cs typeface="Calibri"/>
                <a:sym typeface="Calibri"/>
              </a:rPr>
              <a:t>Gross revenue per $ spent</a:t>
            </a:r>
            <a:endParaRPr b="0" i="0" sz="800" u="none" cap="none" strike="noStrike">
              <a:solidFill>
                <a:schemeClr val="dk1"/>
              </a:solidFill>
              <a:latin typeface="Calibri"/>
              <a:ea typeface="Calibri"/>
              <a:cs typeface="Calibri"/>
              <a:sym typeface="Calibri"/>
            </a:endParaRPr>
          </a:p>
        </p:txBody>
      </p:sp>
      <p:sp>
        <p:nvSpPr>
          <p:cNvPr id="116" name="Google Shape;116;p17"/>
          <p:cNvSpPr/>
          <p:nvPr/>
        </p:nvSpPr>
        <p:spPr>
          <a:xfrm>
            <a:off x="3172968" y="1143000"/>
            <a:ext cx="2651760" cy="804672"/>
          </a:xfrm>
          <a:prstGeom prst="rect">
            <a:avLst/>
          </a:prstGeom>
          <a:solidFill>
            <a:srgbClr val="FFFFFF"/>
          </a:solidFill>
          <a:ln cap="flat" cmpd="sng" w="15225">
            <a:solidFill>
              <a:srgbClr val="2E7D32"/>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7"/>
          <p:cNvSpPr/>
          <p:nvPr/>
        </p:nvSpPr>
        <p:spPr>
          <a:xfrm>
            <a:off x="3172968" y="1143000"/>
            <a:ext cx="2651760" cy="201168"/>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p:nvPr/>
        </p:nvSpPr>
        <p:spPr>
          <a:xfrm>
            <a:off x="3172968" y="1280150"/>
            <a:ext cx="26517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2600"/>
              <a:buFont typeface="Calibri"/>
              <a:buNone/>
            </a:pPr>
            <a:r>
              <a:rPr b="1" i="0" lang="en" sz="2100" u="none" cap="none" strike="noStrike">
                <a:solidFill>
                  <a:srgbClr val="2E7D32"/>
                </a:solidFill>
                <a:latin typeface="Calibri"/>
                <a:ea typeface="Calibri"/>
                <a:cs typeface="Calibri"/>
                <a:sym typeface="Calibri"/>
              </a:rPr>
              <a:t>0.50%</a:t>
            </a:r>
            <a:endParaRPr b="0" i="0" sz="2100" u="none" cap="none" strike="noStrike">
              <a:solidFill>
                <a:schemeClr val="dk1"/>
              </a:solidFill>
              <a:latin typeface="Calibri"/>
              <a:ea typeface="Calibri"/>
              <a:cs typeface="Calibri"/>
              <a:sym typeface="Calibri"/>
            </a:endParaRPr>
          </a:p>
        </p:txBody>
      </p:sp>
      <p:sp>
        <p:nvSpPr>
          <p:cNvPr id="119" name="Google Shape;119;p17"/>
          <p:cNvSpPr/>
          <p:nvPr/>
        </p:nvSpPr>
        <p:spPr>
          <a:xfrm>
            <a:off x="3172993" y="1618509"/>
            <a:ext cx="26517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02C"/>
              </a:buClr>
              <a:buSzPts val="900"/>
              <a:buFont typeface="Calibri"/>
              <a:buNone/>
            </a:pPr>
            <a:r>
              <a:rPr b="1" i="0" lang="en" sz="900" u="none" cap="none" strike="noStrike">
                <a:solidFill>
                  <a:srgbClr val="1A202C"/>
                </a:solidFill>
                <a:latin typeface="Calibri"/>
                <a:ea typeface="Calibri"/>
                <a:cs typeface="Calibri"/>
                <a:sym typeface="Calibri"/>
              </a:rPr>
              <a:t>Cashback Yield</a:t>
            </a:r>
            <a:endParaRPr b="0" i="0" sz="900" u="none" cap="none" strike="noStrike">
              <a:solidFill>
                <a:schemeClr val="dk1"/>
              </a:solidFill>
              <a:latin typeface="Calibri"/>
              <a:ea typeface="Calibri"/>
              <a:cs typeface="Calibri"/>
              <a:sym typeface="Calibri"/>
            </a:endParaRPr>
          </a:p>
        </p:txBody>
      </p:sp>
      <p:sp>
        <p:nvSpPr>
          <p:cNvPr id="120" name="Google Shape;120;p17"/>
          <p:cNvSpPr/>
          <p:nvPr/>
        </p:nvSpPr>
        <p:spPr>
          <a:xfrm>
            <a:off x="3246143" y="1773945"/>
            <a:ext cx="2651700" cy="15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00"/>
              <a:buFont typeface="Calibri"/>
              <a:buNone/>
            </a:pPr>
            <a:r>
              <a:rPr b="0" i="0" lang="en" sz="800" u="none" cap="none" strike="noStrike">
                <a:solidFill>
                  <a:srgbClr val="64748B"/>
                </a:solidFill>
                <a:latin typeface="Calibri"/>
                <a:ea typeface="Calibri"/>
                <a:cs typeface="Calibri"/>
                <a:sym typeface="Calibri"/>
              </a:rPr>
              <a:t>Customer return per $ spent</a:t>
            </a:r>
            <a:endParaRPr b="0" i="0" sz="800" u="none" cap="none" strike="noStrike">
              <a:solidFill>
                <a:schemeClr val="dk1"/>
              </a:solidFill>
              <a:latin typeface="Calibri"/>
              <a:ea typeface="Calibri"/>
              <a:cs typeface="Calibri"/>
              <a:sym typeface="Calibri"/>
            </a:endParaRPr>
          </a:p>
        </p:txBody>
      </p:sp>
      <p:sp>
        <p:nvSpPr>
          <p:cNvPr id="121" name="Google Shape;121;p17"/>
          <p:cNvSpPr/>
          <p:nvPr/>
        </p:nvSpPr>
        <p:spPr>
          <a:xfrm>
            <a:off x="6025896" y="1143000"/>
            <a:ext cx="2651760" cy="804672"/>
          </a:xfrm>
          <a:prstGeom prst="rect">
            <a:avLst/>
          </a:prstGeom>
          <a:solidFill>
            <a:srgbClr val="FFFFFF"/>
          </a:solidFill>
          <a:ln cap="flat" cmpd="sng" w="15225">
            <a:solidFill>
              <a:srgbClr val="E6510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7"/>
          <p:cNvSpPr/>
          <p:nvPr/>
        </p:nvSpPr>
        <p:spPr>
          <a:xfrm>
            <a:off x="6025896" y="1143000"/>
            <a:ext cx="2651760" cy="201168"/>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6025896" y="1280150"/>
            <a:ext cx="26517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5100"/>
              </a:buClr>
              <a:buSzPts val="2600"/>
              <a:buFont typeface="Calibri"/>
              <a:buNone/>
            </a:pPr>
            <a:r>
              <a:rPr b="1" i="0" lang="en" sz="2100" u="none" cap="none" strike="noStrike">
                <a:solidFill>
                  <a:srgbClr val="E65100"/>
                </a:solidFill>
                <a:latin typeface="Calibri"/>
                <a:ea typeface="Calibri"/>
                <a:cs typeface="Calibri"/>
                <a:sym typeface="Calibri"/>
              </a:rPr>
              <a:t>49.5%</a:t>
            </a:r>
            <a:endParaRPr b="0" i="0" sz="2100" u="none" cap="none" strike="noStrike">
              <a:solidFill>
                <a:schemeClr val="dk1"/>
              </a:solidFill>
              <a:latin typeface="Calibri"/>
              <a:ea typeface="Calibri"/>
              <a:cs typeface="Calibri"/>
              <a:sym typeface="Calibri"/>
            </a:endParaRPr>
          </a:p>
        </p:txBody>
      </p:sp>
      <p:sp>
        <p:nvSpPr>
          <p:cNvPr id="124" name="Google Shape;124;p17"/>
          <p:cNvSpPr/>
          <p:nvPr/>
        </p:nvSpPr>
        <p:spPr>
          <a:xfrm>
            <a:off x="6025896" y="1641309"/>
            <a:ext cx="26517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02C"/>
              </a:buClr>
              <a:buSzPts val="900"/>
              <a:buFont typeface="Calibri"/>
              <a:buNone/>
            </a:pPr>
            <a:r>
              <a:rPr b="1" i="0" lang="en" sz="900" u="none" cap="none" strike="noStrike">
                <a:solidFill>
                  <a:srgbClr val="1A202C"/>
                </a:solidFill>
                <a:latin typeface="Calibri"/>
                <a:ea typeface="Calibri"/>
                <a:cs typeface="Calibri"/>
                <a:sym typeface="Calibri"/>
              </a:rPr>
              <a:t>Net Margin</a:t>
            </a:r>
            <a:endParaRPr b="0" i="0" sz="900" u="none" cap="none" strike="noStrike">
              <a:solidFill>
                <a:schemeClr val="dk1"/>
              </a:solidFill>
              <a:latin typeface="Calibri"/>
              <a:ea typeface="Calibri"/>
              <a:cs typeface="Calibri"/>
              <a:sym typeface="Calibri"/>
            </a:endParaRPr>
          </a:p>
        </p:txBody>
      </p:sp>
      <p:sp>
        <p:nvSpPr>
          <p:cNvPr id="125" name="Google Shape;125;p17"/>
          <p:cNvSpPr/>
          <p:nvPr/>
        </p:nvSpPr>
        <p:spPr>
          <a:xfrm>
            <a:off x="6025896" y="1815145"/>
            <a:ext cx="2651700" cy="15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00"/>
              <a:buFont typeface="Calibri"/>
              <a:buNone/>
            </a:pPr>
            <a:r>
              <a:rPr b="0" i="0" lang="en" sz="800" u="none" cap="none" strike="noStrike">
                <a:solidFill>
                  <a:srgbClr val="64748B"/>
                </a:solidFill>
                <a:latin typeface="Calibri"/>
                <a:ea typeface="Calibri"/>
                <a:cs typeface="Calibri"/>
                <a:sym typeface="Calibri"/>
              </a:rPr>
              <a:t>Of gross interchange retained</a:t>
            </a:r>
            <a:endParaRPr b="0" i="0" sz="800" u="none" cap="none" strike="noStrike">
              <a:solidFill>
                <a:schemeClr val="dk1"/>
              </a:solidFill>
              <a:latin typeface="Calibri"/>
              <a:ea typeface="Calibri"/>
              <a:cs typeface="Calibri"/>
              <a:sym typeface="Calibri"/>
            </a:endParaRPr>
          </a:p>
        </p:txBody>
      </p:sp>
      <p:sp>
        <p:nvSpPr>
          <p:cNvPr id="126" name="Google Shape;126;p17"/>
          <p:cNvSpPr/>
          <p:nvPr/>
        </p:nvSpPr>
        <p:spPr>
          <a:xfrm>
            <a:off x="6080760" y="2103120"/>
            <a:ext cx="2743200" cy="2560200"/>
          </a:xfrm>
          <a:prstGeom prst="rect">
            <a:avLst/>
          </a:prstGeom>
          <a:solidFill>
            <a:srgbClr val="FFFFFF"/>
          </a:solidFill>
          <a:ln cap="flat" cmpd="sng" w="9525">
            <a:solidFill>
              <a:srgbClr val="E2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7"/>
          <p:cNvSpPr/>
          <p:nvPr/>
        </p:nvSpPr>
        <p:spPr>
          <a:xfrm>
            <a:off x="6080760" y="2103120"/>
            <a:ext cx="2743200" cy="292608"/>
          </a:xfrm>
          <a:prstGeom prst="rect">
            <a:avLst/>
          </a:prstGeom>
          <a:solidFill>
            <a:srgbClr val="0D2137"/>
          </a:solidFill>
          <a:ln cap="flat" cmpd="sng" w="12700">
            <a:solidFill>
              <a:srgbClr val="0D21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7"/>
          <p:cNvSpPr/>
          <p:nvPr/>
        </p:nvSpPr>
        <p:spPr>
          <a:xfrm>
            <a:off x="6080760" y="2121408"/>
            <a:ext cx="27432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Per $100 Card Spend</a:t>
            </a:r>
            <a:endParaRPr b="0" i="0" sz="1000" u="none" cap="none" strike="noStrike">
              <a:solidFill>
                <a:schemeClr val="dk1"/>
              </a:solidFill>
              <a:latin typeface="Calibri"/>
              <a:ea typeface="Calibri"/>
              <a:cs typeface="Calibri"/>
              <a:sym typeface="Calibri"/>
            </a:endParaRPr>
          </a:p>
        </p:txBody>
      </p:sp>
      <p:sp>
        <p:nvSpPr>
          <p:cNvPr id="129" name="Google Shape;129;p17"/>
          <p:cNvSpPr/>
          <p:nvPr/>
        </p:nvSpPr>
        <p:spPr>
          <a:xfrm>
            <a:off x="6172200" y="2487168"/>
            <a:ext cx="2560320" cy="402336"/>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7"/>
          <p:cNvSpPr/>
          <p:nvPr/>
        </p:nvSpPr>
        <p:spPr>
          <a:xfrm>
            <a:off x="6236208" y="2523744"/>
            <a:ext cx="1645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850"/>
              <a:buFont typeface="Calibri"/>
              <a:buNone/>
            </a:pPr>
            <a:r>
              <a:rPr b="0" i="0" lang="en" sz="850" u="none" cap="none" strike="noStrike">
                <a:solidFill>
                  <a:srgbClr val="1A202C"/>
                </a:solidFill>
                <a:latin typeface="Calibri"/>
                <a:ea typeface="Calibri"/>
                <a:cs typeface="Calibri"/>
                <a:sym typeface="Calibri"/>
              </a:rPr>
              <a:t>Gross Interchange earned</a:t>
            </a:r>
            <a:endParaRPr b="0" i="0" sz="850" u="none" cap="none" strike="noStrike">
              <a:solidFill>
                <a:schemeClr val="dk1"/>
              </a:solidFill>
              <a:latin typeface="Calibri"/>
              <a:ea typeface="Calibri"/>
              <a:cs typeface="Calibri"/>
              <a:sym typeface="Calibri"/>
            </a:endParaRPr>
          </a:p>
        </p:txBody>
      </p:sp>
      <p:sp>
        <p:nvSpPr>
          <p:cNvPr id="131" name="Google Shape;131;p17"/>
          <p:cNvSpPr/>
          <p:nvPr/>
        </p:nvSpPr>
        <p:spPr>
          <a:xfrm>
            <a:off x="7498080" y="2523744"/>
            <a:ext cx="114300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565C0"/>
              </a:buClr>
              <a:buSzPts val="1300"/>
              <a:buFont typeface="Calibri"/>
              <a:buNone/>
            </a:pPr>
            <a:r>
              <a:rPr b="1" i="0" lang="en" sz="1300" u="none" cap="none" strike="noStrike">
                <a:solidFill>
                  <a:srgbClr val="1565C0"/>
                </a:solidFill>
                <a:latin typeface="Calibri"/>
                <a:ea typeface="Calibri"/>
                <a:cs typeface="Calibri"/>
                <a:sym typeface="Calibri"/>
              </a:rPr>
              <a:t>$1.92</a:t>
            </a:r>
            <a:endParaRPr b="0" i="0" sz="1300" u="none" cap="none" strike="noStrike">
              <a:solidFill>
                <a:schemeClr val="dk1"/>
              </a:solidFill>
              <a:latin typeface="Calibri"/>
              <a:ea typeface="Calibri"/>
              <a:cs typeface="Calibri"/>
              <a:sym typeface="Calibri"/>
            </a:endParaRPr>
          </a:p>
        </p:txBody>
      </p:sp>
      <p:sp>
        <p:nvSpPr>
          <p:cNvPr id="132" name="Google Shape;132;p17"/>
          <p:cNvSpPr/>
          <p:nvPr/>
        </p:nvSpPr>
        <p:spPr>
          <a:xfrm>
            <a:off x="6172200" y="2980944"/>
            <a:ext cx="2560320" cy="402336"/>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7"/>
          <p:cNvSpPr/>
          <p:nvPr/>
        </p:nvSpPr>
        <p:spPr>
          <a:xfrm>
            <a:off x="6236208" y="3017520"/>
            <a:ext cx="1645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850"/>
              <a:buFont typeface="Calibri"/>
              <a:buNone/>
            </a:pPr>
            <a:r>
              <a:rPr b="0" i="0" lang="en" sz="850" u="none" cap="none" strike="noStrike">
                <a:solidFill>
                  <a:srgbClr val="1A202C"/>
                </a:solidFill>
                <a:latin typeface="Calibri"/>
                <a:ea typeface="Calibri"/>
                <a:cs typeface="Calibri"/>
                <a:sym typeface="Calibri"/>
              </a:rPr>
              <a:t>Cashback paid to customer</a:t>
            </a:r>
            <a:endParaRPr b="0" i="0" sz="850" u="none" cap="none" strike="noStrike">
              <a:solidFill>
                <a:schemeClr val="dk1"/>
              </a:solidFill>
              <a:latin typeface="Calibri"/>
              <a:ea typeface="Calibri"/>
              <a:cs typeface="Calibri"/>
              <a:sym typeface="Calibri"/>
            </a:endParaRPr>
          </a:p>
        </p:txBody>
      </p:sp>
      <p:sp>
        <p:nvSpPr>
          <p:cNvPr id="134" name="Google Shape;134;p17"/>
          <p:cNvSpPr/>
          <p:nvPr/>
        </p:nvSpPr>
        <p:spPr>
          <a:xfrm>
            <a:off x="7498080" y="3017520"/>
            <a:ext cx="114300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E7D32"/>
              </a:buClr>
              <a:buSzPts val="1300"/>
              <a:buFont typeface="Calibri"/>
              <a:buNone/>
            </a:pPr>
            <a:r>
              <a:rPr b="1" i="0" lang="en" sz="1300" u="none" cap="none" strike="noStrike">
                <a:solidFill>
                  <a:srgbClr val="2E7D32"/>
                </a:solidFill>
                <a:latin typeface="Calibri"/>
                <a:ea typeface="Calibri"/>
                <a:cs typeface="Calibri"/>
                <a:sym typeface="Calibri"/>
              </a:rPr>
              <a:t>−$0.50</a:t>
            </a:r>
            <a:endParaRPr b="0" i="0" sz="1300" u="none" cap="none" strike="noStrike">
              <a:solidFill>
                <a:schemeClr val="dk1"/>
              </a:solidFill>
              <a:latin typeface="Calibri"/>
              <a:ea typeface="Calibri"/>
              <a:cs typeface="Calibri"/>
              <a:sym typeface="Calibri"/>
            </a:endParaRPr>
          </a:p>
        </p:txBody>
      </p:sp>
      <p:sp>
        <p:nvSpPr>
          <p:cNvPr id="135" name="Google Shape;135;p17"/>
          <p:cNvSpPr/>
          <p:nvPr/>
        </p:nvSpPr>
        <p:spPr>
          <a:xfrm>
            <a:off x="6172200" y="3474720"/>
            <a:ext cx="2560320" cy="402336"/>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a:off x="6236208" y="3511296"/>
            <a:ext cx="1645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850"/>
              <a:buFont typeface="Calibri"/>
              <a:buNone/>
            </a:pPr>
            <a:r>
              <a:rPr b="0" i="0" lang="en" sz="850" u="none" cap="none" strike="noStrike">
                <a:solidFill>
                  <a:srgbClr val="1A202C"/>
                </a:solidFill>
                <a:latin typeface="Calibri"/>
                <a:ea typeface="Calibri"/>
                <a:cs typeface="Calibri"/>
                <a:sym typeface="Calibri"/>
              </a:rPr>
              <a:t>Processing cost absorbed</a:t>
            </a:r>
            <a:endParaRPr b="0" i="0" sz="850" u="none" cap="none" strike="noStrike">
              <a:solidFill>
                <a:schemeClr val="dk1"/>
              </a:solidFill>
              <a:latin typeface="Calibri"/>
              <a:ea typeface="Calibri"/>
              <a:cs typeface="Calibri"/>
              <a:sym typeface="Calibri"/>
            </a:endParaRPr>
          </a:p>
        </p:txBody>
      </p:sp>
      <p:sp>
        <p:nvSpPr>
          <p:cNvPr id="137" name="Google Shape;137;p17"/>
          <p:cNvSpPr/>
          <p:nvPr/>
        </p:nvSpPr>
        <p:spPr>
          <a:xfrm>
            <a:off x="7498080" y="3511296"/>
            <a:ext cx="114300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300"/>
              <a:buFont typeface="Calibri"/>
              <a:buNone/>
            </a:pPr>
            <a:r>
              <a:rPr b="1" i="0" lang="en" sz="1300" u="none" cap="none" strike="noStrike">
                <a:solidFill>
                  <a:srgbClr val="64748B"/>
                </a:solidFill>
                <a:latin typeface="Calibri"/>
                <a:ea typeface="Calibri"/>
                <a:cs typeface="Calibri"/>
                <a:sym typeface="Calibri"/>
              </a:rPr>
              <a:t>−$0.48</a:t>
            </a:r>
            <a:endParaRPr b="0" i="0" sz="1300" u="none" cap="none" strike="noStrike">
              <a:solidFill>
                <a:schemeClr val="dk1"/>
              </a:solidFill>
              <a:latin typeface="Calibri"/>
              <a:ea typeface="Calibri"/>
              <a:cs typeface="Calibri"/>
              <a:sym typeface="Calibri"/>
            </a:endParaRPr>
          </a:p>
        </p:txBody>
      </p:sp>
      <p:sp>
        <p:nvSpPr>
          <p:cNvPr id="138" name="Google Shape;138;p17"/>
          <p:cNvSpPr/>
          <p:nvPr/>
        </p:nvSpPr>
        <p:spPr>
          <a:xfrm>
            <a:off x="6172200" y="3968496"/>
            <a:ext cx="2560320" cy="402336"/>
          </a:xfrm>
          <a:prstGeom prst="rect">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p:nvPr/>
        </p:nvSpPr>
        <p:spPr>
          <a:xfrm>
            <a:off x="6236208" y="4005072"/>
            <a:ext cx="1645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850"/>
              <a:buFont typeface="Calibri"/>
              <a:buNone/>
            </a:pPr>
            <a:r>
              <a:rPr b="0" i="0" lang="en" sz="850" u="none" cap="none" strike="noStrike">
                <a:solidFill>
                  <a:srgbClr val="1A202C"/>
                </a:solidFill>
                <a:latin typeface="Calibri"/>
                <a:ea typeface="Calibri"/>
                <a:cs typeface="Calibri"/>
                <a:sym typeface="Calibri"/>
              </a:rPr>
              <a:t>Net retained </a:t>
            </a:r>
            <a:endParaRPr sz="850">
              <a:solidFill>
                <a:srgbClr val="1A202C"/>
              </a:solidFill>
              <a:latin typeface="Calibri"/>
              <a:ea typeface="Calibri"/>
              <a:cs typeface="Calibri"/>
              <a:sym typeface="Calibri"/>
            </a:endParaRPr>
          </a:p>
        </p:txBody>
      </p:sp>
      <p:sp>
        <p:nvSpPr>
          <p:cNvPr id="140" name="Google Shape;140;p17"/>
          <p:cNvSpPr/>
          <p:nvPr/>
        </p:nvSpPr>
        <p:spPr>
          <a:xfrm>
            <a:off x="7498080" y="4005072"/>
            <a:ext cx="114300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5100"/>
              </a:buClr>
              <a:buSzPts val="1300"/>
              <a:buFont typeface="Calibri"/>
              <a:buNone/>
            </a:pPr>
            <a:r>
              <a:rPr b="1" i="0" lang="en" sz="1300" u="none" cap="none" strike="noStrike">
                <a:solidFill>
                  <a:srgbClr val="E65100"/>
                </a:solidFill>
                <a:latin typeface="Calibri"/>
                <a:ea typeface="Calibri"/>
                <a:cs typeface="Calibri"/>
                <a:sym typeface="Calibri"/>
              </a:rPr>
              <a:t>$0.94</a:t>
            </a:r>
            <a:endParaRPr b="0" i="0" sz="1300" u="none" cap="none" strike="noStrike">
              <a:solidFill>
                <a:schemeClr val="dk1"/>
              </a:solidFill>
              <a:latin typeface="Calibri"/>
              <a:ea typeface="Calibri"/>
              <a:cs typeface="Calibri"/>
              <a:sym typeface="Calibri"/>
            </a:endParaRPr>
          </a:p>
        </p:txBody>
      </p:sp>
      <p:sp>
        <p:nvSpPr>
          <p:cNvPr id="141" name="Google Shape;141;p17"/>
          <p:cNvSpPr/>
          <p:nvPr/>
        </p:nvSpPr>
        <p:spPr>
          <a:xfrm>
            <a:off x="320050" y="4663459"/>
            <a:ext cx="8503800" cy="475500"/>
          </a:xfrm>
          <a:prstGeom prst="rect">
            <a:avLst/>
          </a:prstGeom>
          <a:solidFill>
            <a:srgbClr val="E69138"/>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7"/>
          <p:cNvSpPr/>
          <p:nvPr/>
        </p:nvSpPr>
        <p:spPr>
          <a:xfrm>
            <a:off x="347475" y="4681750"/>
            <a:ext cx="83850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850"/>
              <a:buFont typeface="Calibri"/>
              <a:buNone/>
            </a:pPr>
            <a:r>
              <a:rPr i="1" lang="en" sz="1200">
                <a:solidFill>
                  <a:schemeClr val="dk1"/>
                </a:solidFill>
                <a:latin typeface="Calibri"/>
                <a:ea typeface="Calibri"/>
                <a:cs typeface="Calibri"/>
                <a:sym typeface="Calibri"/>
              </a:rPr>
              <a:t>In</a:t>
            </a:r>
            <a:r>
              <a:rPr i="1" lang="en" sz="1100">
                <a:solidFill>
                  <a:schemeClr val="dk1"/>
                </a:solidFill>
                <a:latin typeface="Calibri"/>
                <a:ea typeface="Calibri"/>
                <a:cs typeface="Calibri"/>
                <a:sym typeface="Calibri"/>
              </a:rPr>
              <a:t>terchange economics remain stable across all four months, net margin holds consistently at approximately 49.5% regardless of volume fluctuations. February's higher total interchange reflects volume growth, not a rate change, confirming that revenue scales predictably </a:t>
            </a:r>
            <a:r>
              <a:rPr i="1" lang="en" sz="1200">
                <a:solidFill>
                  <a:schemeClr val="dk1"/>
                </a:solidFill>
                <a:latin typeface="Calibri"/>
                <a:ea typeface="Calibri"/>
                <a:cs typeface="Calibri"/>
                <a:sym typeface="Calibri"/>
              </a:rPr>
              <a:t>with card spend</a:t>
            </a:r>
            <a:endParaRPr b="0" i="0" sz="1200" u="none" cap="none" strike="noStrike">
              <a:solidFill>
                <a:schemeClr val="dk1"/>
              </a:solidFill>
              <a:latin typeface="Calibri"/>
              <a:ea typeface="Calibri"/>
              <a:cs typeface="Calibri"/>
              <a:sym typeface="Calibri"/>
            </a:endParaRPr>
          </a:p>
        </p:txBody>
      </p:sp>
      <p:pic>
        <p:nvPicPr>
          <p:cNvPr id="143" name="Google Shape;143;p17"/>
          <p:cNvPicPr preferRelativeResize="0"/>
          <p:nvPr/>
        </p:nvPicPr>
        <p:blipFill>
          <a:blip r:embed="rId3">
            <a:alphaModFix/>
          </a:blip>
          <a:stretch>
            <a:fillRect/>
          </a:stretch>
        </p:blipFill>
        <p:spPr>
          <a:xfrm>
            <a:off x="365750" y="2013751"/>
            <a:ext cx="4789411" cy="2560325"/>
          </a:xfrm>
          <a:prstGeom prst="rect">
            <a:avLst/>
          </a:prstGeom>
          <a:solidFill>
            <a:srgbClr val="FFFFFF"/>
          </a:solidFill>
          <a:ln cap="flat" cmpd="sng" w="9525">
            <a:solidFill>
              <a:srgbClr val="E2E8F0"/>
            </a:solidFill>
            <a:prstDash val="dash"/>
            <a:round/>
            <a:headEnd len="sm" w="sm" type="none"/>
            <a:tailEnd len="sm" w="sm" type="none"/>
          </a:ln>
          <a:effectLst>
            <a:outerShdw blurRad="76200" rotWithShape="0" algn="bl" dir="8100000" dist="25400">
              <a:srgbClr val="000000">
                <a:alpha val="784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8" name="Shape 148"/>
        <p:cNvGrpSpPr/>
        <p:nvPr/>
      </p:nvGrpSpPr>
      <p:grpSpPr>
        <a:xfrm>
          <a:off x="0" y="0"/>
          <a:ext cx="0" cy="0"/>
          <a:chOff x="0" y="0"/>
          <a:chExt cx="0" cy="0"/>
        </a:xfrm>
      </p:grpSpPr>
      <p:sp>
        <p:nvSpPr>
          <p:cNvPr id="149" name="Google Shape;149;p18"/>
          <p:cNvSpPr/>
          <p:nvPr/>
        </p:nvSpPr>
        <p:spPr>
          <a:xfrm>
            <a:off x="0" y="0"/>
            <a:ext cx="9144000" cy="1051560"/>
          </a:xfrm>
          <a:prstGeom prst="rect">
            <a:avLst/>
          </a:prstGeom>
          <a:solidFill>
            <a:srgbClr val="E69138"/>
          </a:solidFill>
          <a:ln cap="flat" cmpd="sng" w="12700">
            <a:solidFill>
              <a:srgbClr val="0D21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a:off x="0" y="0"/>
            <a:ext cx="201168" cy="1051560"/>
          </a:xfrm>
          <a:prstGeom prst="rect">
            <a:avLst/>
          </a:prstGeom>
          <a:solidFill>
            <a:schemeClr val="dk1"/>
          </a:solidFill>
          <a:ln cap="flat" cmpd="sng" w="12700">
            <a:solidFill>
              <a:srgbClr val="26B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8"/>
          <p:cNvSpPr/>
          <p:nvPr/>
        </p:nvSpPr>
        <p:spPr>
          <a:xfrm>
            <a:off x="347472" y="91440"/>
            <a:ext cx="85953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lang="en" sz="2000">
                <a:solidFill>
                  <a:srgbClr val="FFFFFF"/>
                </a:solidFill>
                <a:latin typeface="Calibri"/>
                <a:ea typeface="Calibri"/>
                <a:cs typeface="Calibri"/>
                <a:sym typeface="Calibri"/>
              </a:rPr>
              <a:t>High tier cashback customers generate 93% larger transactions, premium cashback is exclusively observed in Large customer accounts</a:t>
            </a:r>
            <a:endParaRPr b="0" i="0" sz="2000" u="none" cap="none" strike="noStrike">
              <a:solidFill>
                <a:schemeClr val="dk1"/>
              </a:solidFill>
              <a:latin typeface="Calibri"/>
              <a:ea typeface="Calibri"/>
              <a:cs typeface="Calibri"/>
              <a:sym typeface="Calibri"/>
            </a:endParaRPr>
          </a:p>
        </p:txBody>
      </p:sp>
      <p:sp>
        <p:nvSpPr>
          <p:cNvPr id="152" name="Google Shape;152;p18"/>
          <p:cNvSpPr/>
          <p:nvPr/>
        </p:nvSpPr>
        <p:spPr>
          <a:xfrm>
            <a:off x="347472" y="594360"/>
            <a:ext cx="8595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B46A"/>
              </a:buClr>
              <a:buSzPts val="1000"/>
              <a:buFont typeface="Calibri"/>
              <a:buNone/>
            </a:pPr>
            <a:r>
              <a:rPr i="1" lang="en" sz="1200">
                <a:solidFill>
                  <a:schemeClr val="dk1"/>
                </a:solidFill>
                <a:latin typeface="Calibri"/>
                <a:ea typeface="Calibri"/>
                <a:cs typeface="Calibri"/>
                <a:sym typeface="Calibri"/>
              </a:rPr>
              <a:t>Customer Segmentation | Three Cashback Tiers &amp; Customer Size Distribution</a:t>
            </a:r>
            <a:endParaRPr b="0" i="0" sz="1200" u="none" cap="none" strike="noStrike">
              <a:solidFill>
                <a:schemeClr val="dk1"/>
              </a:solidFill>
              <a:latin typeface="Calibri"/>
              <a:ea typeface="Calibri"/>
              <a:cs typeface="Calibri"/>
              <a:sym typeface="Calibri"/>
            </a:endParaRPr>
          </a:p>
        </p:txBody>
      </p:sp>
      <p:sp>
        <p:nvSpPr>
          <p:cNvPr id="153" name="Google Shape;153;p18"/>
          <p:cNvSpPr/>
          <p:nvPr/>
        </p:nvSpPr>
        <p:spPr>
          <a:xfrm>
            <a:off x="5600210" y="2688895"/>
            <a:ext cx="2743200" cy="749700"/>
          </a:xfrm>
          <a:prstGeom prst="rect">
            <a:avLst/>
          </a:prstGeom>
          <a:solidFill>
            <a:srgbClr val="FFFFFF"/>
          </a:solidFill>
          <a:ln cap="flat" cmpd="sng" w="12700">
            <a:solidFill>
              <a:srgbClr val="1565C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
          <p:cNvSpPr/>
          <p:nvPr/>
        </p:nvSpPr>
        <p:spPr>
          <a:xfrm>
            <a:off x="5600210" y="2688895"/>
            <a:ext cx="164700" cy="7497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8"/>
          <p:cNvSpPr/>
          <p:nvPr/>
        </p:nvSpPr>
        <p:spPr>
          <a:xfrm>
            <a:off x="5874410" y="2752384"/>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2000"/>
              <a:buFont typeface="Calibri"/>
              <a:buNone/>
            </a:pPr>
            <a:r>
              <a:rPr b="1" i="0" lang="en" sz="2000" u="none" cap="none" strike="noStrike">
                <a:solidFill>
                  <a:srgbClr val="1565C0"/>
                </a:solidFill>
                <a:latin typeface="Calibri"/>
                <a:ea typeface="Calibri"/>
                <a:cs typeface="Calibri"/>
                <a:sym typeface="Calibri"/>
              </a:rPr>
              <a:t>$</a:t>
            </a:r>
            <a:r>
              <a:rPr b="1" lang="en" sz="2000">
                <a:solidFill>
                  <a:srgbClr val="1565C0"/>
                </a:solidFill>
                <a:latin typeface="Calibri"/>
                <a:ea typeface="Calibri"/>
                <a:cs typeface="Calibri"/>
                <a:sym typeface="Calibri"/>
              </a:rPr>
              <a:t>5.8K</a:t>
            </a:r>
            <a:endParaRPr b="0" i="0" sz="2000" u="none" cap="none" strike="noStrike">
              <a:solidFill>
                <a:schemeClr val="dk1"/>
              </a:solidFill>
              <a:latin typeface="Calibri"/>
              <a:ea typeface="Calibri"/>
              <a:cs typeface="Calibri"/>
              <a:sym typeface="Calibri"/>
            </a:endParaRPr>
          </a:p>
        </p:txBody>
      </p:sp>
      <p:sp>
        <p:nvSpPr>
          <p:cNvPr id="156" name="Google Shape;156;p18"/>
          <p:cNvSpPr/>
          <p:nvPr/>
        </p:nvSpPr>
        <p:spPr>
          <a:xfrm>
            <a:off x="5874410" y="3016243"/>
            <a:ext cx="2469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850"/>
              <a:buFont typeface="Calibri"/>
              <a:buNone/>
            </a:pPr>
            <a:r>
              <a:rPr b="1" i="0" lang="en" sz="850" u="none" cap="none" strike="noStrike">
                <a:solidFill>
                  <a:srgbClr val="1A202C"/>
                </a:solidFill>
                <a:latin typeface="Calibri"/>
                <a:ea typeface="Calibri"/>
                <a:cs typeface="Calibri"/>
                <a:sym typeface="Calibri"/>
              </a:rPr>
              <a:t>Tier </a:t>
            </a:r>
            <a:r>
              <a:rPr b="1" lang="en" sz="850">
                <a:solidFill>
                  <a:srgbClr val="1A202C"/>
                </a:solidFill>
                <a:latin typeface="Calibri"/>
                <a:ea typeface="Calibri"/>
                <a:cs typeface="Calibri"/>
                <a:sym typeface="Calibri"/>
              </a:rPr>
              <a:t>3 </a:t>
            </a:r>
            <a:r>
              <a:rPr b="1" i="0" lang="en" sz="850" u="none" cap="none" strike="noStrike">
                <a:solidFill>
                  <a:srgbClr val="1A202C"/>
                </a:solidFill>
                <a:latin typeface="Calibri"/>
                <a:ea typeface="Calibri"/>
                <a:cs typeface="Calibri"/>
                <a:sym typeface="Calibri"/>
              </a:rPr>
              <a:t> </a:t>
            </a:r>
            <a:r>
              <a:rPr b="1" lang="en" sz="850">
                <a:solidFill>
                  <a:srgbClr val="1A202C"/>
                </a:solidFill>
                <a:latin typeface="Calibri"/>
                <a:ea typeface="Calibri"/>
                <a:cs typeface="Calibri"/>
                <a:sym typeface="Calibri"/>
              </a:rPr>
              <a:t>Avg transaction</a:t>
            </a:r>
            <a:endParaRPr b="0" i="0" sz="850" u="none" cap="none" strike="noStrike">
              <a:solidFill>
                <a:schemeClr val="dk1"/>
              </a:solidFill>
              <a:latin typeface="Calibri"/>
              <a:ea typeface="Calibri"/>
              <a:cs typeface="Calibri"/>
              <a:sym typeface="Calibri"/>
            </a:endParaRPr>
          </a:p>
        </p:txBody>
      </p:sp>
      <p:sp>
        <p:nvSpPr>
          <p:cNvPr id="157" name="Google Shape;157;p18"/>
          <p:cNvSpPr/>
          <p:nvPr/>
        </p:nvSpPr>
        <p:spPr>
          <a:xfrm>
            <a:off x="5874400" y="3199124"/>
            <a:ext cx="2469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lang="en" sz="900">
                <a:solidFill>
                  <a:srgbClr val="0A2A3F"/>
                </a:solidFill>
                <a:latin typeface="Calibri"/>
                <a:ea typeface="Calibri"/>
                <a:cs typeface="Calibri"/>
                <a:sym typeface="Calibri"/>
              </a:rPr>
              <a:t>vs $3k standard tier (+93K)</a:t>
            </a:r>
            <a:endParaRPr b="0" i="0" sz="900" u="none" cap="none" strike="noStrike">
              <a:solidFill>
                <a:srgbClr val="0A2A3F"/>
              </a:solidFill>
              <a:latin typeface="Calibri"/>
              <a:ea typeface="Calibri"/>
              <a:cs typeface="Calibri"/>
              <a:sym typeface="Calibri"/>
            </a:endParaRPr>
          </a:p>
        </p:txBody>
      </p:sp>
      <p:sp>
        <p:nvSpPr>
          <p:cNvPr id="158" name="Google Shape;158;p18"/>
          <p:cNvSpPr/>
          <p:nvPr/>
        </p:nvSpPr>
        <p:spPr>
          <a:xfrm>
            <a:off x="5600210" y="3437618"/>
            <a:ext cx="2743200" cy="749700"/>
          </a:xfrm>
          <a:prstGeom prst="rect">
            <a:avLst/>
          </a:prstGeom>
          <a:solidFill>
            <a:srgbClr val="FFFFFF"/>
          </a:solidFill>
          <a:ln cap="flat" cmpd="sng" w="12700">
            <a:solidFill>
              <a:srgbClr val="26B46A"/>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8"/>
          <p:cNvSpPr/>
          <p:nvPr/>
        </p:nvSpPr>
        <p:spPr>
          <a:xfrm>
            <a:off x="5600210" y="3459393"/>
            <a:ext cx="164700" cy="749700"/>
          </a:xfrm>
          <a:prstGeom prst="rect">
            <a:avLst/>
          </a:prstGeom>
          <a:solidFill>
            <a:srgbClr val="26B46A"/>
          </a:solidFill>
          <a:ln cap="flat" cmpd="sng" w="12700">
            <a:solidFill>
              <a:srgbClr val="26B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8"/>
          <p:cNvSpPr/>
          <p:nvPr/>
        </p:nvSpPr>
        <p:spPr>
          <a:xfrm>
            <a:off x="5874410" y="3454794"/>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B46A"/>
              </a:buClr>
              <a:buSzPts val="2000"/>
              <a:buFont typeface="Calibri"/>
              <a:buNone/>
            </a:pPr>
            <a:r>
              <a:rPr b="1" i="0" lang="en" sz="2000" u="none" cap="none" strike="noStrike">
                <a:solidFill>
                  <a:srgbClr val="26B46A"/>
                </a:solidFill>
                <a:latin typeface="Calibri"/>
                <a:ea typeface="Calibri"/>
                <a:cs typeface="Calibri"/>
                <a:sym typeface="Calibri"/>
              </a:rPr>
              <a:t>$</a:t>
            </a:r>
            <a:r>
              <a:rPr b="1" lang="en" sz="2000">
                <a:solidFill>
                  <a:srgbClr val="26B46A"/>
                </a:solidFill>
                <a:latin typeface="Calibri"/>
                <a:ea typeface="Calibri"/>
                <a:cs typeface="Calibri"/>
                <a:sym typeface="Calibri"/>
              </a:rPr>
              <a:t>807K</a:t>
            </a:r>
            <a:endParaRPr b="0" i="0" sz="2000" u="none" cap="none" strike="noStrike">
              <a:solidFill>
                <a:schemeClr val="dk1"/>
              </a:solidFill>
              <a:latin typeface="Calibri"/>
              <a:ea typeface="Calibri"/>
              <a:cs typeface="Calibri"/>
              <a:sym typeface="Calibri"/>
            </a:endParaRPr>
          </a:p>
        </p:txBody>
      </p:sp>
      <p:sp>
        <p:nvSpPr>
          <p:cNvPr id="161" name="Google Shape;161;p18"/>
          <p:cNvSpPr/>
          <p:nvPr/>
        </p:nvSpPr>
        <p:spPr>
          <a:xfrm>
            <a:off x="5874410" y="3816891"/>
            <a:ext cx="2469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850"/>
              <a:buFont typeface="Calibri"/>
              <a:buNone/>
            </a:pPr>
            <a:r>
              <a:rPr b="1" lang="en" sz="850">
                <a:solidFill>
                  <a:srgbClr val="1A202C"/>
                </a:solidFill>
                <a:latin typeface="Calibri"/>
                <a:ea typeface="Calibri"/>
                <a:cs typeface="Calibri"/>
                <a:sym typeface="Calibri"/>
              </a:rPr>
              <a:t>Tier 3 Total card spend</a:t>
            </a:r>
            <a:endParaRPr b="0" i="0" sz="850" u="none" cap="none" strike="noStrike">
              <a:solidFill>
                <a:schemeClr val="dk1"/>
              </a:solidFill>
              <a:latin typeface="Calibri"/>
              <a:ea typeface="Calibri"/>
              <a:cs typeface="Calibri"/>
              <a:sym typeface="Calibri"/>
            </a:endParaRPr>
          </a:p>
        </p:txBody>
      </p:sp>
      <p:sp>
        <p:nvSpPr>
          <p:cNvPr id="162" name="Google Shape;162;p18"/>
          <p:cNvSpPr/>
          <p:nvPr/>
        </p:nvSpPr>
        <p:spPr>
          <a:xfrm>
            <a:off x="5874410" y="4018171"/>
            <a:ext cx="2469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lang="en" sz="900">
                <a:solidFill>
                  <a:srgbClr val="64748B"/>
                </a:solidFill>
                <a:latin typeface="Calibri"/>
                <a:ea typeface="Calibri"/>
                <a:cs typeface="Calibri"/>
                <a:sym typeface="Calibri"/>
              </a:rPr>
              <a:t>E</a:t>
            </a:r>
            <a:r>
              <a:rPr lang="en" sz="900">
                <a:solidFill>
                  <a:srgbClr val="0A2A3F"/>
                </a:solidFill>
                <a:latin typeface="Calibri"/>
                <a:ea typeface="Calibri"/>
                <a:cs typeface="Calibri"/>
                <a:sym typeface="Calibri"/>
              </a:rPr>
              <a:t>xclusively from  large customer, no small-mid</a:t>
            </a:r>
            <a:endParaRPr b="0" i="0" sz="900" u="none" cap="none" strike="noStrike">
              <a:solidFill>
                <a:srgbClr val="0A2A3F"/>
              </a:solidFill>
              <a:latin typeface="Calibri"/>
              <a:ea typeface="Calibri"/>
              <a:cs typeface="Calibri"/>
              <a:sym typeface="Calibri"/>
            </a:endParaRPr>
          </a:p>
        </p:txBody>
      </p:sp>
      <p:sp>
        <p:nvSpPr>
          <p:cNvPr id="163" name="Google Shape;163;p18"/>
          <p:cNvSpPr/>
          <p:nvPr/>
        </p:nvSpPr>
        <p:spPr>
          <a:xfrm>
            <a:off x="0" y="4617625"/>
            <a:ext cx="8595300" cy="525900"/>
          </a:xfrm>
          <a:prstGeom prst="rect">
            <a:avLst/>
          </a:prstGeom>
          <a:solidFill>
            <a:srgbClr val="E69138"/>
          </a:solidFill>
          <a:ln cap="flat" cmpd="sng" w="9525">
            <a:solidFill>
              <a:srgbClr val="26B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8"/>
          <p:cNvSpPr/>
          <p:nvPr/>
        </p:nvSpPr>
        <p:spPr>
          <a:xfrm>
            <a:off x="45600" y="4699950"/>
            <a:ext cx="8465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850"/>
              <a:buFont typeface="Calibri"/>
              <a:buNone/>
            </a:pPr>
            <a:r>
              <a:rPr i="1" lang="en" sz="1150">
                <a:solidFill>
                  <a:schemeClr val="dk1"/>
                </a:solidFill>
                <a:latin typeface="Calibri"/>
                <a:ea typeface="Calibri"/>
                <a:cs typeface="Calibri"/>
                <a:sym typeface="Calibri"/>
              </a:rPr>
              <a:t>Despite paying higher cashback (0.75% vs 0.50%), High tier transactions generate nearly double the net interchange per transaction,  $54 vs $28, because larger invoice sizes ($5.8K vs $3K) produce proportionally more gross interchange revenue. Higher cashback and higher net revenue are not in conflict for this tier</a:t>
            </a:r>
            <a:endParaRPr b="0" i="0" sz="1150" u="none" cap="none" strike="noStrike">
              <a:solidFill>
                <a:schemeClr val="dk1"/>
              </a:solidFill>
              <a:latin typeface="Calibri"/>
              <a:ea typeface="Calibri"/>
              <a:cs typeface="Calibri"/>
              <a:sym typeface="Calibri"/>
            </a:endParaRPr>
          </a:p>
        </p:txBody>
      </p:sp>
      <p:pic>
        <p:nvPicPr>
          <p:cNvPr id="165" name="Google Shape;165;p18"/>
          <p:cNvPicPr preferRelativeResize="0"/>
          <p:nvPr/>
        </p:nvPicPr>
        <p:blipFill>
          <a:blip r:embed="rId3">
            <a:alphaModFix/>
          </a:blip>
          <a:stretch>
            <a:fillRect/>
          </a:stretch>
        </p:blipFill>
        <p:spPr>
          <a:xfrm>
            <a:off x="45600" y="1157875"/>
            <a:ext cx="5505875" cy="3459750"/>
          </a:xfrm>
          <a:prstGeom prst="rect">
            <a:avLst/>
          </a:prstGeom>
          <a:noFill/>
          <a:ln>
            <a:noFill/>
          </a:ln>
        </p:spPr>
      </p:pic>
      <p:sp>
        <p:nvSpPr>
          <p:cNvPr id="166" name="Google Shape;166;p18"/>
          <p:cNvSpPr txBox="1"/>
          <p:nvPr/>
        </p:nvSpPr>
        <p:spPr>
          <a:xfrm>
            <a:off x="5459325" y="1218200"/>
            <a:ext cx="3483600" cy="16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Three cashback rate bands identified from derived cashback rate column (0.25%, 0.50%, 0.75%+). High tier cashback appears exclusively in Large customer accounts across all 2,000 transactions, whether this reflects volume commitments or negotiated pricing cannot be confirmed from transaction data alone, but suggests Mid-size customers may have limited access to premium cashback incentives.</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71" name="Shape 171"/>
        <p:cNvGrpSpPr/>
        <p:nvPr/>
      </p:nvGrpSpPr>
      <p:grpSpPr>
        <a:xfrm>
          <a:off x="0" y="0"/>
          <a:ext cx="0" cy="0"/>
          <a:chOff x="0" y="0"/>
          <a:chExt cx="0" cy="0"/>
        </a:xfrm>
      </p:grpSpPr>
      <p:sp>
        <p:nvSpPr>
          <p:cNvPr id="172" name="Google Shape;172;p19"/>
          <p:cNvSpPr/>
          <p:nvPr/>
        </p:nvSpPr>
        <p:spPr>
          <a:xfrm>
            <a:off x="0" y="0"/>
            <a:ext cx="9144000" cy="1051560"/>
          </a:xfrm>
          <a:prstGeom prst="rect">
            <a:avLst/>
          </a:prstGeom>
          <a:solidFill>
            <a:srgbClr val="E69138"/>
          </a:solidFill>
          <a:ln cap="flat" cmpd="sng" w="12700">
            <a:solidFill>
              <a:srgbClr val="0D21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p:nvPr/>
        </p:nvSpPr>
        <p:spPr>
          <a:xfrm>
            <a:off x="0" y="0"/>
            <a:ext cx="201168" cy="1051560"/>
          </a:xfrm>
          <a:prstGeom prst="rect">
            <a:avLst/>
          </a:prstGeom>
          <a:solidFill>
            <a:schemeClr val="dk1"/>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
          <p:cNvSpPr/>
          <p:nvPr/>
        </p:nvSpPr>
        <p:spPr>
          <a:xfrm>
            <a:off x="347472" y="91440"/>
            <a:ext cx="85953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lang="en" sz="2000">
                <a:solidFill>
                  <a:srgbClr val="FFFFFF"/>
                </a:solidFill>
                <a:latin typeface="Calibri"/>
                <a:ea typeface="Calibri"/>
                <a:cs typeface="Calibri"/>
                <a:sym typeface="Calibri"/>
              </a:rPr>
              <a:t>Telecommunications generates 4x higher transaction values than Retail with faster processing and stronger interchange economics</a:t>
            </a:r>
            <a:endParaRPr b="0" i="0" sz="2000" u="none" cap="none" strike="noStrike">
              <a:solidFill>
                <a:schemeClr val="dk1"/>
              </a:solidFill>
              <a:latin typeface="Calibri"/>
              <a:ea typeface="Calibri"/>
              <a:cs typeface="Calibri"/>
              <a:sym typeface="Calibri"/>
            </a:endParaRPr>
          </a:p>
        </p:txBody>
      </p:sp>
      <p:sp>
        <p:nvSpPr>
          <p:cNvPr id="175" name="Google Shape;175;p19"/>
          <p:cNvSpPr/>
          <p:nvPr/>
        </p:nvSpPr>
        <p:spPr>
          <a:xfrm>
            <a:off x="347472" y="594360"/>
            <a:ext cx="8595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5100"/>
              </a:buClr>
              <a:buSzPts val="1000"/>
              <a:buFont typeface="Calibri"/>
              <a:buNone/>
            </a:pPr>
            <a:r>
              <a:rPr b="0" i="1" lang="en" sz="1200" u="none" cap="none" strike="noStrike">
                <a:solidFill>
                  <a:schemeClr val="dk1"/>
                </a:solidFill>
                <a:latin typeface="Calibri"/>
                <a:ea typeface="Calibri"/>
                <a:cs typeface="Calibri"/>
                <a:sym typeface="Calibri"/>
              </a:rPr>
              <a:t>Revenue Driver Analysis  |  Processing Efficiency &amp; Merchant Mix</a:t>
            </a:r>
            <a:endParaRPr b="0" i="0" sz="1200" u="none" cap="none" strike="noStrike">
              <a:solidFill>
                <a:schemeClr val="dk1"/>
              </a:solidFill>
              <a:latin typeface="Calibri"/>
              <a:ea typeface="Calibri"/>
              <a:cs typeface="Calibri"/>
              <a:sym typeface="Calibri"/>
            </a:endParaRPr>
          </a:p>
        </p:txBody>
      </p:sp>
      <p:sp>
        <p:nvSpPr>
          <p:cNvPr id="176" name="Google Shape;176;p19"/>
          <p:cNvSpPr/>
          <p:nvPr/>
        </p:nvSpPr>
        <p:spPr>
          <a:xfrm>
            <a:off x="6382512" y="1143000"/>
            <a:ext cx="2441448" cy="987552"/>
          </a:xfrm>
          <a:prstGeom prst="rect">
            <a:avLst/>
          </a:prstGeom>
          <a:solidFill>
            <a:srgbClr val="E8F5E9"/>
          </a:solidFill>
          <a:ln cap="flat" cmpd="sng" w="10150">
            <a:solidFill>
              <a:srgbClr val="2E7D32"/>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9"/>
          <p:cNvSpPr/>
          <p:nvPr/>
        </p:nvSpPr>
        <p:spPr>
          <a:xfrm>
            <a:off x="6382512" y="1143000"/>
            <a:ext cx="2441448" cy="237744"/>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9"/>
          <p:cNvSpPr/>
          <p:nvPr/>
        </p:nvSpPr>
        <p:spPr>
          <a:xfrm>
            <a:off x="6382512" y="1161288"/>
            <a:ext cx="2441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 sz="1000">
                <a:solidFill>
                  <a:srgbClr val="FFFFFF"/>
                </a:solidFill>
                <a:latin typeface="Calibri"/>
                <a:ea typeface="Calibri"/>
                <a:cs typeface="Calibri"/>
                <a:sym typeface="Calibri"/>
              </a:rPr>
              <a:t>Telecommunication- </a:t>
            </a:r>
            <a:r>
              <a:rPr b="1" i="0" lang="en" sz="1000" u="none" cap="none" strike="noStrike">
                <a:solidFill>
                  <a:srgbClr val="FFFFFF"/>
                </a:solidFill>
                <a:latin typeface="Calibri"/>
                <a:ea typeface="Calibri"/>
                <a:cs typeface="Calibri"/>
                <a:sym typeface="Calibri"/>
              </a:rPr>
              <a:t> Priority</a:t>
            </a:r>
            <a:endParaRPr b="0" i="0" sz="1000" u="none" cap="none" strike="noStrike">
              <a:solidFill>
                <a:schemeClr val="dk1"/>
              </a:solidFill>
              <a:latin typeface="Calibri"/>
              <a:ea typeface="Calibri"/>
              <a:cs typeface="Calibri"/>
              <a:sym typeface="Calibri"/>
            </a:endParaRPr>
          </a:p>
        </p:txBody>
      </p:sp>
      <p:sp>
        <p:nvSpPr>
          <p:cNvPr id="179" name="Google Shape;179;p19"/>
          <p:cNvSpPr/>
          <p:nvPr/>
        </p:nvSpPr>
        <p:spPr>
          <a:xfrm>
            <a:off x="6446520" y="1417320"/>
            <a:ext cx="2313432"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02C"/>
              </a:buClr>
              <a:buSzPts val="850"/>
              <a:buFont typeface="Calibri"/>
              <a:buNone/>
            </a:pPr>
            <a:r>
              <a:rPr b="0" i="0" lang="en" sz="1050" u="none" cap="none" strike="noStrike">
                <a:solidFill>
                  <a:srgbClr val="1A202C"/>
                </a:solidFill>
                <a:latin typeface="Calibri"/>
                <a:ea typeface="Calibri"/>
                <a:cs typeface="Calibri"/>
                <a:sym typeface="Calibri"/>
              </a:rPr>
              <a:t>$14-16K avg transaction, 3.8 days processing. Highest interchange per transaction in the dataset.</a:t>
            </a:r>
            <a:endParaRPr b="0" i="0" sz="1050" u="none" cap="none" strike="noStrike">
              <a:solidFill>
                <a:schemeClr val="dk1"/>
              </a:solidFill>
              <a:latin typeface="Calibri"/>
              <a:ea typeface="Calibri"/>
              <a:cs typeface="Calibri"/>
              <a:sym typeface="Calibri"/>
            </a:endParaRPr>
          </a:p>
        </p:txBody>
      </p:sp>
      <p:sp>
        <p:nvSpPr>
          <p:cNvPr id="180" name="Google Shape;180;p19"/>
          <p:cNvSpPr/>
          <p:nvPr/>
        </p:nvSpPr>
        <p:spPr>
          <a:xfrm>
            <a:off x="6382512" y="2221992"/>
            <a:ext cx="2441448" cy="987552"/>
          </a:xfrm>
          <a:prstGeom prst="rect">
            <a:avLst/>
          </a:prstGeom>
          <a:solidFill>
            <a:srgbClr val="E3F2FD"/>
          </a:solidFill>
          <a:ln cap="flat" cmpd="sng" w="10150">
            <a:solidFill>
              <a:srgbClr val="1565C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9"/>
          <p:cNvSpPr/>
          <p:nvPr/>
        </p:nvSpPr>
        <p:spPr>
          <a:xfrm>
            <a:off x="6382512" y="2221992"/>
            <a:ext cx="2441448" cy="237744"/>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9"/>
          <p:cNvSpPr/>
          <p:nvPr/>
        </p:nvSpPr>
        <p:spPr>
          <a:xfrm>
            <a:off x="6382512" y="2240280"/>
            <a:ext cx="2441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M</a:t>
            </a:r>
            <a:r>
              <a:rPr b="1" i="0" lang="en" sz="1000" u="none" cap="none" strike="noStrike">
                <a:solidFill>
                  <a:srgbClr val="FFFFFF"/>
                </a:solidFill>
                <a:latin typeface="Calibri"/>
                <a:ea typeface="Calibri"/>
                <a:cs typeface="Calibri"/>
                <a:sym typeface="Calibri"/>
              </a:rPr>
              <a:t>erchant Rates </a:t>
            </a:r>
            <a:r>
              <a:rPr b="1" lang="en" sz="1000">
                <a:solidFill>
                  <a:srgbClr val="FFFFFF"/>
                </a:solidFill>
                <a:latin typeface="Calibri"/>
                <a:ea typeface="Calibri"/>
                <a:cs typeface="Calibri"/>
                <a:sym typeface="Calibri"/>
              </a:rPr>
              <a:t>- </a:t>
            </a:r>
            <a:r>
              <a:rPr b="1" i="0" lang="en" sz="1000" u="none" cap="none" strike="noStrike">
                <a:solidFill>
                  <a:srgbClr val="FFFFFF"/>
                </a:solidFill>
                <a:latin typeface="Calibri"/>
                <a:ea typeface="Calibri"/>
                <a:cs typeface="Calibri"/>
                <a:sym typeface="Calibri"/>
              </a:rPr>
              <a:t>Consistent</a:t>
            </a:r>
            <a:endParaRPr b="0" i="0" sz="1000" u="none" cap="none" strike="noStrike">
              <a:solidFill>
                <a:schemeClr val="dk1"/>
              </a:solidFill>
              <a:latin typeface="Calibri"/>
              <a:ea typeface="Calibri"/>
              <a:cs typeface="Calibri"/>
              <a:sym typeface="Calibri"/>
            </a:endParaRPr>
          </a:p>
        </p:txBody>
      </p:sp>
      <p:sp>
        <p:nvSpPr>
          <p:cNvPr id="183" name="Google Shape;183;p19"/>
          <p:cNvSpPr/>
          <p:nvPr/>
        </p:nvSpPr>
        <p:spPr>
          <a:xfrm>
            <a:off x="6446520" y="2496312"/>
            <a:ext cx="2313432"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02C"/>
              </a:buClr>
              <a:buSzPts val="850"/>
              <a:buFont typeface="Calibri"/>
              <a:buNone/>
            </a:pPr>
            <a:r>
              <a:rPr b="0" i="0" lang="en" sz="1050" u="none" cap="none" strike="noStrike">
                <a:solidFill>
                  <a:srgbClr val="1A202C"/>
                </a:solidFill>
                <a:latin typeface="Calibri"/>
                <a:ea typeface="Calibri"/>
                <a:cs typeface="Calibri"/>
                <a:sym typeface="Calibri"/>
              </a:rPr>
              <a:t>All categories 2.6%–3.0%. Volume and transaction size are the primary revenue levers — not merchant mix.</a:t>
            </a:r>
            <a:endParaRPr b="0" i="0" sz="1050" u="none" cap="none" strike="noStrike">
              <a:solidFill>
                <a:schemeClr val="dk1"/>
              </a:solidFill>
              <a:latin typeface="Calibri"/>
              <a:ea typeface="Calibri"/>
              <a:cs typeface="Calibri"/>
              <a:sym typeface="Calibri"/>
            </a:endParaRPr>
          </a:p>
        </p:txBody>
      </p:sp>
      <p:sp>
        <p:nvSpPr>
          <p:cNvPr id="184" name="Google Shape;184;p19"/>
          <p:cNvSpPr/>
          <p:nvPr/>
        </p:nvSpPr>
        <p:spPr>
          <a:xfrm>
            <a:off x="6382500" y="3300973"/>
            <a:ext cx="2441400" cy="1203000"/>
          </a:xfrm>
          <a:prstGeom prst="rect">
            <a:avLst/>
          </a:prstGeom>
          <a:solidFill>
            <a:srgbClr val="FFF3E0"/>
          </a:solidFill>
          <a:ln cap="flat" cmpd="sng" w="10150">
            <a:solidFill>
              <a:srgbClr val="E6510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9"/>
          <p:cNvSpPr/>
          <p:nvPr/>
        </p:nvSpPr>
        <p:spPr>
          <a:xfrm>
            <a:off x="6382512" y="3300984"/>
            <a:ext cx="2441448" cy="237744"/>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9"/>
          <p:cNvSpPr/>
          <p:nvPr/>
        </p:nvSpPr>
        <p:spPr>
          <a:xfrm>
            <a:off x="6382512" y="3319272"/>
            <a:ext cx="2441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 sz="1000">
                <a:solidFill>
                  <a:srgbClr val="FFFFFF"/>
                </a:solidFill>
                <a:latin typeface="Calibri"/>
                <a:ea typeface="Calibri"/>
                <a:cs typeface="Calibri"/>
                <a:sym typeface="Calibri"/>
              </a:rPr>
              <a:t>Technology</a:t>
            </a:r>
            <a:r>
              <a:rPr b="1" i="0" lang="en" sz="1000" u="none" cap="none" strike="noStrike">
                <a:solidFill>
                  <a:srgbClr val="FFFFFF"/>
                </a:solidFill>
                <a:latin typeface="Calibri"/>
                <a:ea typeface="Calibri"/>
                <a:cs typeface="Calibri"/>
                <a:sym typeface="Calibri"/>
              </a:rPr>
              <a:t> </a:t>
            </a:r>
            <a:r>
              <a:rPr b="1" lang="en" sz="1000">
                <a:solidFill>
                  <a:srgbClr val="FFFFFF"/>
                </a:solidFill>
                <a:latin typeface="Calibri"/>
                <a:ea typeface="Calibri"/>
                <a:cs typeface="Calibri"/>
                <a:sym typeface="Calibri"/>
              </a:rPr>
              <a:t>- </a:t>
            </a:r>
            <a:r>
              <a:rPr b="1" i="0" lang="en" sz="1000" u="none" cap="none" strike="noStrike">
                <a:solidFill>
                  <a:srgbClr val="FFFFFF"/>
                </a:solidFill>
                <a:latin typeface="Calibri"/>
                <a:ea typeface="Calibri"/>
                <a:cs typeface="Calibri"/>
                <a:sym typeface="Calibri"/>
              </a:rPr>
              <a:t> Review</a:t>
            </a:r>
            <a:endParaRPr b="0" i="0" sz="1000" u="none" cap="none" strike="noStrike">
              <a:solidFill>
                <a:schemeClr val="dk1"/>
              </a:solidFill>
              <a:latin typeface="Calibri"/>
              <a:ea typeface="Calibri"/>
              <a:cs typeface="Calibri"/>
              <a:sym typeface="Calibri"/>
            </a:endParaRPr>
          </a:p>
        </p:txBody>
      </p:sp>
      <p:sp>
        <p:nvSpPr>
          <p:cNvPr id="187" name="Google Shape;187;p19"/>
          <p:cNvSpPr/>
          <p:nvPr/>
        </p:nvSpPr>
        <p:spPr>
          <a:xfrm>
            <a:off x="6446500" y="3547850"/>
            <a:ext cx="2313300" cy="956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02C"/>
              </a:buClr>
              <a:buSzPts val="850"/>
              <a:buFont typeface="Calibri"/>
              <a:buNone/>
            </a:pPr>
            <a:r>
              <a:rPr lang="en" sz="950">
                <a:solidFill>
                  <a:srgbClr val="1A202C"/>
                </a:solidFill>
                <a:latin typeface="Calibri"/>
                <a:ea typeface="Calibri"/>
                <a:cs typeface="Calibri"/>
                <a:sym typeface="Calibri"/>
              </a:rPr>
              <a:t>T</a:t>
            </a:r>
            <a:r>
              <a:rPr lang="en" sz="1050">
                <a:solidFill>
                  <a:srgbClr val="1A202C"/>
                </a:solidFill>
                <a:latin typeface="Calibri"/>
                <a:ea typeface="Calibri"/>
                <a:cs typeface="Calibri"/>
                <a:sym typeface="Calibri"/>
              </a:rPr>
              <a:t>echnology drives the highest card spend ($978K) but shows 5.58 day processing and $4,724 avg transaction, the largest efficiency gap relative to its volume contribution.</a:t>
            </a:r>
            <a:endParaRPr b="0" i="0" sz="1050" u="none" cap="none" strike="noStrike">
              <a:solidFill>
                <a:schemeClr val="dk1"/>
              </a:solidFill>
              <a:latin typeface="Calibri"/>
              <a:ea typeface="Calibri"/>
              <a:cs typeface="Calibri"/>
              <a:sym typeface="Calibri"/>
            </a:endParaRPr>
          </a:p>
        </p:txBody>
      </p:sp>
      <p:sp>
        <p:nvSpPr>
          <p:cNvPr id="188" name="Google Shape;188;p19"/>
          <p:cNvSpPr/>
          <p:nvPr/>
        </p:nvSpPr>
        <p:spPr>
          <a:xfrm>
            <a:off x="28175" y="4503950"/>
            <a:ext cx="9115800" cy="567000"/>
          </a:xfrm>
          <a:prstGeom prst="rect">
            <a:avLst/>
          </a:prstGeom>
          <a:solidFill>
            <a:srgbClr val="E69138"/>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9"/>
          <p:cNvSpPr/>
          <p:nvPr/>
        </p:nvSpPr>
        <p:spPr>
          <a:xfrm>
            <a:off x="28175" y="4503975"/>
            <a:ext cx="90513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5100"/>
              </a:buClr>
              <a:buSzPts val="850"/>
              <a:buFont typeface="Calibri"/>
              <a:buNone/>
            </a:pPr>
            <a:r>
              <a:rPr i="1" lang="en" sz="1350">
                <a:solidFill>
                  <a:schemeClr val="dk1"/>
                </a:solidFill>
                <a:latin typeface="Calibri"/>
                <a:ea typeface="Calibri"/>
                <a:cs typeface="Calibri"/>
                <a:sym typeface="Calibri"/>
              </a:rPr>
              <a:t>T</a:t>
            </a:r>
            <a:r>
              <a:rPr i="1" lang="en" sz="1150">
                <a:solidFill>
                  <a:schemeClr val="dk1"/>
                </a:solidFill>
                <a:latin typeface="Calibri"/>
                <a:ea typeface="Calibri"/>
                <a:cs typeface="Calibri"/>
                <a:sym typeface="Calibri"/>
              </a:rPr>
              <a:t>elecommunications processes $15K transactions in under 4 days, the most efficient profile in the program. Technology, despite driving the highest card spend at $978K, takes 5.58 days to process $4.7K average transactions. Product and Engineering should investigate what is causing this delay, resolving it for the program's highest-volume industry represents the largest absolute efficiency opportunity without requiring new customer acquisition</a:t>
            </a:r>
            <a:r>
              <a:rPr i="1" lang="en" sz="1150">
                <a:solidFill>
                  <a:srgbClr val="E65100"/>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pic>
        <p:nvPicPr>
          <p:cNvPr id="190" name="Google Shape;190;p19"/>
          <p:cNvPicPr preferRelativeResize="0"/>
          <p:nvPr/>
        </p:nvPicPr>
        <p:blipFill>
          <a:blip r:embed="rId3">
            <a:alphaModFix/>
          </a:blip>
          <a:stretch>
            <a:fillRect/>
          </a:stretch>
        </p:blipFill>
        <p:spPr>
          <a:xfrm>
            <a:off x="201175" y="1082025"/>
            <a:ext cx="5697950" cy="3300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195" name="Shape 195"/>
        <p:cNvGrpSpPr/>
        <p:nvPr/>
      </p:nvGrpSpPr>
      <p:grpSpPr>
        <a:xfrm>
          <a:off x="0" y="0"/>
          <a:ext cx="0" cy="0"/>
          <a:chOff x="0" y="0"/>
          <a:chExt cx="0" cy="0"/>
        </a:xfrm>
      </p:grpSpPr>
      <p:sp>
        <p:nvSpPr>
          <p:cNvPr id="196" name="Google Shape;196;p20"/>
          <p:cNvSpPr/>
          <p:nvPr/>
        </p:nvSpPr>
        <p:spPr>
          <a:xfrm>
            <a:off x="0" y="0"/>
            <a:ext cx="201168" cy="5143500"/>
          </a:xfrm>
          <a:prstGeom prst="rect">
            <a:avLst/>
          </a:prstGeom>
          <a:solidFill>
            <a:schemeClr val="dk1"/>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0"/>
          <p:cNvSpPr/>
          <p:nvPr/>
        </p:nvSpPr>
        <p:spPr>
          <a:xfrm>
            <a:off x="347472" y="164592"/>
            <a:ext cx="85953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 sz="2200" u="none" cap="none" strike="noStrike">
                <a:solidFill>
                  <a:srgbClr val="FFFFFF"/>
                </a:solidFill>
                <a:latin typeface="Calibri"/>
                <a:ea typeface="Calibri"/>
                <a:cs typeface="Calibri"/>
                <a:sym typeface="Calibri"/>
              </a:rPr>
              <a:t>Three actions to grow interchange revenue without new customer acquisition</a:t>
            </a:r>
            <a:endParaRPr b="0" i="0" sz="2200" u="none" cap="none" strike="noStrike">
              <a:solidFill>
                <a:schemeClr val="dk1"/>
              </a:solidFill>
              <a:latin typeface="Calibri"/>
              <a:ea typeface="Calibri"/>
              <a:cs typeface="Calibri"/>
              <a:sym typeface="Calibri"/>
            </a:endParaRPr>
          </a:p>
        </p:txBody>
      </p:sp>
      <p:cxnSp>
        <p:nvCxnSpPr>
          <p:cNvPr id="198" name="Google Shape;198;p20"/>
          <p:cNvCxnSpPr/>
          <p:nvPr/>
        </p:nvCxnSpPr>
        <p:spPr>
          <a:xfrm>
            <a:off x="347472" y="777240"/>
            <a:ext cx="8503920" cy="0"/>
          </a:xfrm>
          <a:prstGeom prst="straightConnector1">
            <a:avLst/>
          </a:prstGeom>
          <a:noFill/>
          <a:ln cap="flat" cmpd="sng" w="10150">
            <a:solidFill>
              <a:srgbClr val="028090"/>
            </a:solidFill>
            <a:prstDash val="solid"/>
            <a:round/>
            <a:headEnd len="sm" w="sm" type="none"/>
            <a:tailEnd len="sm" w="sm" type="none"/>
          </a:ln>
        </p:spPr>
      </p:cxnSp>
      <p:sp>
        <p:nvSpPr>
          <p:cNvPr id="199" name="Google Shape;199;p20"/>
          <p:cNvSpPr/>
          <p:nvPr/>
        </p:nvSpPr>
        <p:spPr>
          <a:xfrm>
            <a:off x="320050" y="914400"/>
            <a:ext cx="2697600" cy="4229100"/>
          </a:xfrm>
          <a:prstGeom prst="rect">
            <a:avLst/>
          </a:prstGeom>
          <a:solidFill>
            <a:srgbClr val="0A2A3F"/>
          </a:solidFill>
          <a:ln cap="flat" cmpd="sng" w="12700">
            <a:solidFill>
              <a:srgbClr val="00BCD4"/>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0"/>
          <p:cNvSpPr/>
          <p:nvPr/>
        </p:nvSpPr>
        <p:spPr>
          <a:xfrm>
            <a:off x="320040" y="914400"/>
            <a:ext cx="2697480" cy="347472"/>
          </a:xfrm>
          <a:prstGeom prst="rect">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0"/>
          <p:cNvSpPr/>
          <p:nvPr/>
        </p:nvSpPr>
        <p:spPr>
          <a:xfrm>
            <a:off x="320040" y="932688"/>
            <a:ext cx="26976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Customer Success</a:t>
            </a:r>
            <a:endParaRPr b="0" i="0" sz="1100" u="none" cap="none" strike="noStrike">
              <a:solidFill>
                <a:schemeClr val="dk1"/>
              </a:solidFill>
              <a:latin typeface="Calibri"/>
              <a:ea typeface="Calibri"/>
              <a:cs typeface="Calibri"/>
              <a:sym typeface="Calibri"/>
            </a:endParaRPr>
          </a:p>
        </p:txBody>
      </p:sp>
      <p:sp>
        <p:nvSpPr>
          <p:cNvPr id="202" name="Google Shape;202;p20"/>
          <p:cNvSpPr/>
          <p:nvPr/>
        </p:nvSpPr>
        <p:spPr>
          <a:xfrm>
            <a:off x="429768" y="1325880"/>
            <a:ext cx="247802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100"/>
              <a:buFont typeface="Calibri"/>
              <a:buNone/>
            </a:pPr>
            <a:r>
              <a:rPr b="1" lang="en" sz="1100">
                <a:solidFill>
                  <a:srgbClr val="00BCD4"/>
                </a:solidFill>
                <a:latin typeface="Calibri"/>
                <a:ea typeface="Calibri"/>
                <a:cs typeface="Calibri"/>
                <a:sym typeface="Calibri"/>
              </a:rPr>
              <a:t>Unlock hidden eligible spend in Standard tier accounts</a:t>
            </a:r>
            <a:endParaRPr b="0" i="0" sz="1100" u="none" cap="none" strike="noStrike">
              <a:solidFill>
                <a:schemeClr val="dk1"/>
              </a:solidFill>
              <a:latin typeface="Calibri"/>
              <a:ea typeface="Calibri"/>
              <a:cs typeface="Calibri"/>
              <a:sym typeface="Calibri"/>
            </a:endParaRPr>
          </a:p>
        </p:txBody>
      </p:sp>
      <p:sp>
        <p:nvSpPr>
          <p:cNvPr id="203" name="Google Shape;203;p20"/>
          <p:cNvSpPr/>
          <p:nvPr/>
        </p:nvSpPr>
        <p:spPr>
          <a:xfrm>
            <a:off x="320050" y="1664875"/>
            <a:ext cx="2478000" cy="336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lang="en" sz="1200">
                <a:solidFill>
                  <a:srgbClr val="FFFFFF"/>
                </a:solidFill>
                <a:latin typeface="Calibri"/>
                <a:ea typeface="Calibri"/>
                <a:cs typeface="Calibri"/>
                <a:sym typeface="Calibri"/>
              </a:rPr>
              <a:t>Mid-size customers represent an estimated $817K in monthly card spend. Approximately 35% (~$286K) is estimated to be on Low tier based on overall tier distribution. If these customers converted to High tier and exhibited the same 16% transaction size premium observed in existing High tier customers, monthly spend from this segment would increase to $331K, generating an estimated +$864 in gross interchange and +$428 in net interchange per month. This represents incremental revenue from ACH displacement, payments currently going through wire or ACH that could be routed through card with the right cashback incentive</a:t>
            </a:r>
            <a:endParaRPr b="0" i="0" sz="1200" u="none" cap="none" strike="noStrike">
              <a:solidFill>
                <a:schemeClr val="dk1"/>
              </a:solidFill>
              <a:latin typeface="Calibri"/>
              <a:ea typeface="Calibri"/>
              <a:cs typeface="Calibri"/>
              <a:sym typeface="Calibri"/>
            </a:endParaRPr>
          </a:p>
        </p:txBody>
      </p:sp>
      <p:sp>
        <p:nvSpPr>
          <p:cNvPr id="204" name="Google Shape;204;p20"/>
          <p:cNvSpPr/>
          <p:nvPr/>
        </p:nvSpPr>
        <p:spPr>
          <a:xfrm>
            <a:off x="3172975" y="914350"/>
            <a:ext cx="2697600" cy="4229100"/>
          </a:xfrm>
          <a:prstGeom prst="rect">
            <a:avLst/>
          </a:prstGeom>
          <a:solidFill>
            <a:srgbClr val="0A2A1F"/>
          </a:solidFill>
          <a:ln cap="flat" cmpd="sng" w="12700">
            <a:solidFill>
              <a:srgbClr val="26B46A"/>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0"/>
          <p:cNvSpPr/>
          <p:nvPr/>
        </p:nvSpPr>
        <p:spPr>
          <a:xfrm>
            <a:off x="3172968" y="914400"/>
            <a:ext cx="2697480" cy="347472"/>
          </a:xfrm>
          <a:prstGeom prst="rect">
            <a:avLst/>
          </a:prstGeom>
          <a:solidFill>
            <a:srgbClr val="26B46A"/>
          </a:solidFill>
          <a:ln cap="flat" cmpd="sng" w="12700">
            <a:solidFill>
              <a:srgbClr val="26B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0"/>
          <p:cNvSpPr/>
          <p:nvPr/>
        </p:nvSpPr>
        <p:spPr>
          <a:xfrm>
            <a:off x="3172968" y="932688"/>
            <a:ext cx="26974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Sales</a:t>
            </a:r>
            <a:endParaRPr b="0" i="0" sz="1100" u="none" cap="none" strike="noStrike">
              <a:solidFill>
                <a:schemeClr val="dk1"/>
              </a:solidFill>
              <a:latin typeface="Calibri"/>
              <a:ea typeface="Calibri"/>
              <a:cs typeface="Calibri"/>
              <a:sym typeface="Calibri"/>
            </a:endParaRPr>
          </a:p>
        </p:txBody>
      </p:sp>
      <p:sp>
        <p:nvSpPr>
          <p:cNvPr id="207" name="Google Shape;207;p20"/>
          <p:cNvSpPr/>
          <p:nvPr/>
        </p:nvSpPr>
        <p:spPr>
          <a:xfrm>
            <a:off x="3282696" y="1325880"/>
            <a:ext cx="247802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B46A"/>
              </a:buClr>
              <a:buSzPts val="1100"/>
              <a:buFont typeface="Calibri"/>
              <a:buNone/>
            </a:pPr>
            <a:r>
              <a:rPr b="1" i="0" lang="en" sz="1100" u="none" cap="none" strike="noStrike">
                <a:solidFill>
                  <a:srgbClr val="26B46A"/>
                </a:solidFill>
                <a:latin typeface="Calibri"/>
                <a:ea typeface="Calibri"/>
                <a:cs typeface="Calibri"/>
                <a:sym typeface="Calibri"/>
              </a:rPr>
              <a:t>Prioritize</a:t>
            </a:r>
            <a:r>
              <a:rPr b="1" lang="en" sz="1100">
                <a:solidFill>
                  <a:srgbClr val="26B46A"/>
                </a:solidFill>
                <a:latin typeface="Calibri"/>
                <a:ea typeface="Calibri"/>
                <a:cs typeface="Calibri"/>
                <a:sym typeface="Calibri"/>
              </a:rPr>
              <a:t> Telecommunication </a:t>
            </a:r>
            <a:r>
              <a:rPr b="1" i="0" lang="en" sz="1100" u="none" cap="none" strike="noStrike">
                <a:solidFill>
                  <a:srgbClr val="26B46A"/>
                </a:solidFill>
                <a:latin typeface="Calibri"/>
                <a:ea typeface="Calibri"/>
                <a:cs typeface="Calibri"/>
                <a:sym typeface="Calibri"/>
              </a:rPr>
              <a:t> an</a:t>
            </a:r>
            <a:r>
              <a:rPr b="1" i="0" lang="en" sz="1100" u="none" cap="none" strike="noStrike">
                <a:solidFill>
                  <a:srgbClr val="26B46A"/>
                </a:solidFill>
                <a:latin typeface="Calibri"/>
                <a:ea typeface="Calibri"/>
                <a:cs typeface="Calibri"/>
                <a:sym typeface="Calibri"/>
              </a:rPr>
              <a:t>d H</a:t>
            </a:r>
            <a:r>
              <a:rPr b="1" i="0" lang="en" sz="1100" u="none" cap="none" strike="noStrike">
                <a:solidFill>
                  <a:srgbClr val="26B46A"/>
                </a:solidFill>
                <a:latin typeface="Calibri"/>
                <a:ea typeface="Calibri"/>
                <a:cs typeface="Calibri"/>
                <a:sym typeface="Calibri"/>
              </a:rPr>
              <a:t>ealthcare verticals</a:t>
            </a:r>
            <a:endParaRPr b="0" i="0" sz="1100" u="none" cap="none" strike="noStrike">
              <a:solidFill>
                <a:schemeClr val="dk1"/>
              </a:solidFill>
              <a:latin typeface="Calibri"/>
              <a:ea typeface="Calibri"/>
              <a:cs typeface="Calibri"/>
              <a:sym typeface="Calibri"/>
            </a:endParaRPr>
          </a:p>
        </p:txBody>
      </p:sp>
      <p:sp>
        <p:nvSpPr>
          <p:cNvPr id="208" name="Google Shape;208;p20"/>
          <p:cNvSpPr/>
          <p:nvPr/>
        </p:nvSpPr>
        <p:spPr>
          <a:xfrm>
            <a:off x="3282700" y="1773925"/>
            <a:ext cx="2478000" cy="336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lang="en" sz="1200">
                <a:solidFill>
                  <a:srgbClr val="FFFFFF"/>
                </a:solidFill>
                <a:latin typeface="Calibri"/>
                <a:ea typeface="Calibri"/>
                <a:cs typeface="Calibri"/>
                <a:sym typeface="Calibri"/>
              </a:rPr>
              <a:t>Telecommunications generates $15K average transaction values with the fastest processing at 3.95 days, the most efficient PBC profile in the dataset. Prioritizing this vertical in new customer acquisition improves program economics disproportionately to the number of customers added.</a:t>
            </a:r>
            <a:endParaRPr sz="120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900"/>
              <a:buFont typeface="Calibri"/>
              <a:buNone/>
            </a:pPr>
            <a:r>
              <a:t/>
            </a:r>
            <a:endParaRPr sz="120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900"/>
              <a:buFont typeface="Calibri"/>
              <a:buNone/>
            </a:pPr>
            <a:r>
              <a:rPr lang="en" sz="1200">
                <a:solidFill>
                  <a:srgbClr val="FFFFFF"/>
                </a:solidFill>
                <a:latin typeface="Calibri"/>
                <a:ea typeface="Calibri"/>
                <a:cs typeface="Calibri"/>
                <a:sym typeface="Calibri"/>
              </a:rPr>
              <a:t>Build a targeted outreach list of Large customers in Telecommunications, Healthcare, and Technology verticals for High tier cashback onboarding packages</a:t>
            </a:r>
            <a:endParaRPr sz="1200">
              <a:solidFill>
                <a:srgbClr val="FFFFFF"/>
              </a:solidFill>
              <a:latin typeface="Calibri"/>
              <a:ea typeface="Calibri"/>
              <a:cs typeface="Calibri"/>
              <a:sym typeface="Calibri"/>
            </a:endParaRPr>
          </a:p>
        </p:txBody>
      </p:sp>
      <p:sp>
        <p:nvSpPr>
          <p:cNvPr id="209" name="Google Shape;209;p20"/>
          <p:cNvSpPr/>
          <p:nvPr/>
        </p:nvSpPr>
        <p:spPr>
          <a:xfrm>
            <a:off x="6025900" y="914400"/>
            <a:ext cx="2697600" cy="4229100"/>
          </a:xfrm>
          <a:prstGeom prst="rect">
            <a:avLst/>
          </a:prstGeom>
          <a:solidFill>
            <a:srgbClr val="2A1A0A"/>
          </a:solidFill>
          <a:ln cap="flat" cmpd="sng" w="12700">
            <a:solidFill>
              <a:srgbClr val="FFA726"/>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0"/>
          <p:cNvSpPr/>
          <p:nvPr/>
        </p:nvSpPr>
        <p:spPr>
          <a:xfrm>
            <a:off x="6025896" y="914400"/>
            <a:ext cx="2697480" cy="347472"/>
          </a:xfrm>
          <a:prstGeom prst="rect">
            <a:avLst/>
          </a:prstGeom>
          <a:solidFill>
            <a:srgbClr val="FFA726"/>
          </a:solidFill>
          <a:ln cap="flat" cmpd="sng" w="12700">
            <a:solidFill>
              <a:srgbClr val="FFA7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0"/>
          <p:cNvSpPr/>
          <p:nvPr/>
        </p:nvSpPr>
        <p:spPr>
          <a:xfrm>
            <a:off x="6025896" y="932688"/>
            <a:ext cx="26976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Product</a:t>
            </a:r>
            <a:endParaRPr b="0" i="0" sz="1100" u="none" cap="none" strike="noStrike">
              <a:solidFill>
                <a:schemeClr val="dk1"/>
              </a:solidFill>
              <a:latin typeface="Calibri"/>
              <a:ea typeface="Calibri"/>
              <a:cs typeface="Calibri"/>
              <a:sym typeface="Calibri"/>
            </a:endParaRPr>
          </a:p>
        </p:txBody>
      </p:sp>
      <p:sp>
        <p:nvSpPr>
          <p:cNvPr id="212" name="Google Shape;212;p20"/>
          <p:cNvSpPr/>
          <p:nvPr/>
        </p:nvSpPr>
        <p:spPr>
          <a:xfrm>
            <a:off x="6135624" y="1325880"/>
            <a:ext cx="247802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A726"/>
              </a:buClr>
              <a:buSzPts val="1100"/>
              <a:buFont typeface="Calibri"/>
              <a:buNone/>
            </a:pPr>
            <a:r>
              <a:rPr b="1" i="0" lang="en" sz="1100" u="none" cap="none" strike="noStrike">
                <a:solidFill>
                  <a:srgbClr val="FFA726"/>
                </a:solidFill>
                <a:latin typeface="Calibri"/>
                <a:ea typeface="Calibri"/>
                <a:cs typeface="Calibri"/>
                <a:sym typeface="Calibri"/>
              </a:rPr>
              <a:t>Investigate </a:t>
            </a:r>
            <a:r>
              <a:rPr b="1" lang="en" sz="1100">
                <a:solidFill>
                  <a:srgbClr val="FFA726"/>
                </a:solidFill>
                <a:latin typeface="Calibri"/>
                <a:ea typeface="Calibri"/>
                <a:cs typeface="Calibri"/>
                <a:sym typeface="Calibri"/>
              </a:rPr>
              <a:t>Technology </a:t>
            </a:r>
            <a:r>
              <a:rPr b="1" i="0" lang="en" sz="1100" u="none" cap="none" strike="noStrike">
                <a:solidFill>
                  <a:srgbClr val="FFA726"/>
                </a:solidFill>
                <a:latin typeface="Calibri"/>
                <a:ea typeface="Calibri"/>
                <a:cs typeface="Calibri"/>
                <a:sym typeface="Calibri"/>
              </a:rPr>
              <a:t>processing delay</a:t>
            </a:r>
            <a:endParaRPr b="0" i="0" sz="1100" u="none" cap="none" strike="noStrike">
              <a:solidFill>
                <a:schemeClr val="dk1"/>
              </a:solidFill>
              <a:latin typeface="Calibri"/>
              <a:ea typeface="Calibri"/>
              <a:cs typeface="Calibri"/>
              <a:sym typeface="Calibri"/>
            </a:endParaRPr>
          </a:p>
        </p:txBody>
      </p:sp>
      <p:sp>
        <p:nvSpPr>
          <p:cNvPr id="213" name="Google Shape;213;p20"/>
          <p:cNvSpPr/>
          <p:nvPr/>
        </p:nvSpPr>
        <p:spPr>
          <a:xfrm>
            <a:off x="6135625" y="1773925"/>
            <a:ext cx="2478000" cy="3305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lang="en" sz="1200">
                <a:solidFill>
                  <a:srgbClr val="FFFFFF"/>
                </a:solidFill>
                <a:latin typeface="Calibri"/>
                <a:ea typeface="Calibri"/>
                <a:cs typeface="Calibri"/>
                <a:sym typeface="Calibri"/>
              </a:rPr>
              <a:t>Technology drives the highest card spend at $978K but shows 5.58 day average processing , the largest efficiency gap relative to volume contribution. Resolving this processing friction for the program's highest-volume industry would have the greatest absolute impact on overall program efficiency</a:t>
            </a:r>
            <a:endParaRPr sz="120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900"/>
              <a:buFont typeface="Calibri"/>
              <a:buNone/>
            </a:pPr>
            <a:r>
              <a:t/>
            </a:r>
            <a:endParaRPr sz="120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900"/>
              <a:buFont typeface="Calibri"/>
              <a:buNone/>
            </a:pPr>
            <a:r>
              <a:rPr lang="en" sz="1200">
                <a:solidFill>
                  <a:srgbClr val="FFFFFF"/>
                </a:solidFill>
                <a:latin typeface="Calibri"/>
                <a:ea typeface="Calibri"/>
                <a:cs typeface="Calibri"/>
                <a:sym typeface="Calibri"/>
              </a:rPr>
              <a:t>Complete investigation into Technology industry processing delay (5.58 days vs 3.95 days benchmark) and implement fixes by Q4 2026, resolving the largest efficiency gap relative to volume contribution.</a:t>
            </a:r>
            <a:endParaRPr sz="1200">
              <a:solidFill>
                <a:srgbClr val="FFFFFF"/>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